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1" r:id="rId7"/>
    <p:sldId id="262" r:id="rId8"/>
    <p:sldId id="263" r:id="rId9"/>
    <p:sldId id="277" r:id="rId10"/>
    <p:sldId id="278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9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5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D7805E-58FD-40A6-97BD-2B757536AFD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DB743B-125D-4DB0-A87B-2AC0B33C55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sectors and countries receiving the most funding </a:t>
          </a:r>
        </a:p>
      </dgm:t>
    </dgm:pt>
    <dgm:pt modelId="{D2DDC80A-7DE9-4D35-A4D1-E8663E4F5EE6}" type="parTrans" cxnId="{29A49AD1-5ED5-441E-B43A-8A03C8692464}">
      <dgm:prSet/>
      <dgm:spPr/>
      <dgm:t>
        <a:bodyPr/>
        <a:lstStyle/>
        <a:p>
          <a:endParaRPr lang="en-US"/>
        </a:p>
      </dgm:t>
    </dgm:pt>
    <dgm:pt modelId="{14394F3F-6992-44B2-94A2-C1C5962BE6C6}" type="sibTrans" cxnId="{29A49AD1-5ED5-441E-B43A-8A03C8692464}">
      <dgm:prSet/>
      <dgm:spPr/>
      <dgm:t>
        <a:bodyPr/>
        <a:lstStyle/>
        <a:p>
          <a:endParaRPr lang="en-US"/>
        </a:p>
      </dgm:t>
    </dgm:pt>
    <dgm:pt modelId="{8D0805F5-4435-4CC6-990C-D5572E2147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 the relationship between lender count and funded amount </a:t>
          </a:r>
        </a:p>
      </dgm:t>
    </dgm:pt>
    <dgm:pt modelId="{6344774B-1385-43CF-9607-55ECDE315420}" type="parTrans" cxnId="{24205444-CF58-49B5-B2D1-10490075B00A}">
      <dgm:prSet/>
      <dgm:spPr/>
      <dgm:t>
        <a:bodyPr/>
        <a:lstStyle/>
        <a:p>
          <a:endParaRPr lang="en-US"/>
        </a:p>
      </dgm:t>
    </dgm:pt>
    <dgm:pt modelId="{90C84B8F-037D-4576-9282-CB25E5CD2ADB}" type="sibTrans" cxnId="{24205444-CF58-49B5-B2D1-10490075B00A}">
      <dgm:prSet/>
      <dgm:spPr/>
      <dgm:t>
        <a:bodyPr/>
        <a:lstStyle/>
        <a:p>
          <a:endParaRPr lang="en-US"/>
        </a:p>
      </dgm:t>
    </dgm:pt>
    <dgm:pt modelId="{870BC4C6-4FBC-4F00-9BC7-21C1AE2681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 funded loan amounts using machine learning </a:t>
          </a:r>
        </a:p>
      </dgm:t>
    </dgm:pt>
    <dgm:pt modelId="{60F8B93E-464A-4F79-908D-95A35A1B03B5}" type="parTrans" cxnId="{A5DC5AF6-A384-4BDE-8436-5BF95708E223}">
      <dgm:prSet/>
      <dgm:spPr/>
      <dgm:t>
        <a:bodyPr/>
        <a:lstStyle/>
        <a:p>
          <a:endParaRPr lang="en-US"/>
        </a:p>
      </dgm:t>
    </dgm:pt>
    <dgm:pt modelId="{88924009-B015-49A4-A2E0-AA8D9A6A69A4}" type="sibTrans" cxnId="{A5DC5AF6-A384-4BDE-8436-5BF95708E223}">
      <dgm:prSet/>
      <dgm:spPr/>
      <dgm:t>
        <a:bodyPr/>
        <a:lstStyle/>
        <a:p>
          <a:endParaRPr lang="en-US"/>
        </a:p>
      </dgm:t>
    </dgm:pt>
    <dgm:pt modelId="{B68C6569-8B1E-48BC-8E97-95618ACA09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Visualize trends and key metrics using Power BI </a:t>
          </a:r>
        </a:p>
      </dgm:t>
    </dgm:pt>
    <dgm:pt modelId="{BB18DE70-6382-49F5-9370-736F47204C66}" type="parTrans" cxnId="{8899FB2B-CD85-4E37-94E7-C5BD33528D84}">
      <dgm:prSet/>
      <dgm:spPr/>
      <dgm:t>
        <a:bodyPr/>
        <a:lstStyle/>
        <a:p>
          <a:endParaRPr lang="en-US"/>
        </a:p>
      </dgm:t>
    </dgm:pt>
    <dgm:pt modelId="{809D1D7C-C7AA-4BFB-8BD4-3FA7E81282EA}" type="sibTrans" cxnId="{8899FB2B-CD85-4E37-94E7-C5BD33528D84}">
      <dgm:prSet/>
      <dgm:spPr/>
      <dgm:t>
        <a:bodyPr/>
        <a:lstStyle/>
        <a:p>
          <a:endParaRPr lang="en-US"/>
        </a:p>
      </dgm:t>
    </dgm:pt>
    <dgm:pt modelId="{398A1F20-B104-4FB5-B9CC-229335138E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Forecast future loan trends using ARIMA time series model</a:t>
          </a:r>
        </a:p>
      </dgm:t>
    </dgm:pt>
    <dgm:pt modelId="{43BD1028-BE29-49C1-A2BB-94D4347BB5C6}" type="parTrans" cxnId="{7150B0DF-3B29-4AA4-B75C-AA2716BF8571}">
      <dgm:prSet/>
      <dgm:spPr/>
      <dgm:t>
        <a:bodyPr/>
        <a:lstStyle/>
        <a:p>
          <a:endParaRPr lang="en-US"/>
        </a:p>
      </dgm:t>
    </dgm:pt>
    <dgm:pt modelId="{53AE8CCE-4E07-46E9-88FB-676EDE57EE41}" type="sibTrans" cxnId="{7150B0DF-3B29-4AA4-B75C-AA2716BF8571}">
      <dgm:prSet/>
      <dgm:spPr/>
      <dgm:t>
        <a:bodyPr/>
        <a:lstStyle/>
        <a:p>
          <a:endParaRPr lang="en-US"/>
        </a:p>
      </dgm:t>
    </dgm:pt>
    <dgm:pt modelId="{F70247E8-61C4-4BAB-9A5F-FF67E44246C7}" type="pres">
      <dgm:prSet presAssocID="{ABD7805E-58FD-40A6-97BD-2B757536AFDA}" presName="root" presStyleCnt="0">
        <dgm:presLayoutVars>
          <dgm:dir/>
          <dgm:resizeHandles val="exact"/>
        </dgm:presLayoutVars>
      </dgm:prSet>
      <dgm:spPr/>
    </dgm:pt>
    <dgm:pt modelId="{92E7CC6A-4F3D-4C4E-B55E-D29EAB8E3B6C}" type="pres">
      <dgm:prSet presAssocID="{84DB743B-125D-4DB0-A87B-2AC0B33C555D}" presName="compNode" presStyleCnt="0"/>
      <dgm:spPr/>
    </dgm:pt>
    <dgm:pt modelId="{D5AC8F4C-F233-4106-80C4-8CA4FD4C57C8}" type="pres">
      <dgm:prSet presAssocID="{84DB743B-125D-4DB0-A87B-2AC0B33C555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D9E6C900-FA7B-4718-8978-2CBBC4D6FAD9}" type="pres">
      <dgm:prSet presAssocID="{84DB743B-125D-4DB0-A87B-2AC0B33C555D}" presName="spaceRect" presStyleCnt="0"/>
      <dgm:spPr/>
    </dgm:pt>
    <dgm:pt modelId="{DBBF65D3-84C6-4DEB-9274-81CFC118996B}" type="pres">
      <dgm:prSet presAssocID="{84DB743B-125D-4DB0-A87B-2AC0B33C555D}" presName="textRect" presStyleLbl="revTx" presStyleIdx="0" presStyleCnt="5">
        <dgm:presLayoutVars>
          <dgm:chMax val="1"/>
          <dgm:chPref val="1"/>
        </dgm:presLayoutVars>
      </dgm:prSet>
      <dgm:spPr/>
    </dgm:pt>
    <dgm:pt modelId="{F77A627E-5742-409C-93E7-F764720FDAFE}" type="pres">
      <dgm:prSet presAssocID="{14394F3F-6992-44B2-94A2-C1C5962BE6C6}" presName="sibTrans" presStyleCnt="0"/>
      <dgm:spPr/>
    </dgm:pt>
    <dgm:pt modelId="{76DB3266-A378-40B2-AD93-E890A2C0B801}" type="pres">
      <dgm:prSet presAssocID="{8D0805F5-4435-4CC6-990C-D5572E2147DE}" presName="compNode" presStyleCnt="0"/>
      <dgm:spPr/>
    </dgm:pt>
    <dgm:pt modelId="{EA49FE6F-EC78-4630-AABD-3BC724B504C5}" type="pres">
      <dgm:prSet presAssocID="{8D0805F5-4435-4CC6-990C-D5572E2147D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04A5D42-D1A5-40C5-9121-8CD3CF4DA1F5}" type="pres">
      <dgm:prSet presAssocID="{8D0805F5-4435-4CC6-990C-D5572E2147DE}" presName="spaceRect" presStyleCnt="0"/>
      <dgm:spPr/>
    </dgm:pt>
    <dgm:pt modelId="{234D502D-D2DF-4682-8A49-88B174076A1B}" type="pres">
      <dgm:prSet presAssocID="{8D0805F5-4435-4CC6-990C-D5572E2147DE}" presName="textRect" presStyleLbl="revTx" presStyleIdx="1" presStyleCnt="5">
        <dgm:presLayoutVars>
          <dgm:chMax val="1"/>
          <dgm:chPref val="1"/>
        </dgm:presLayoutVars>
      </dgm:prSet>
      <dgm:spPr/>
    </dgm:pt>
    <dgm:pt modelId="{5B19DE4C-ED28-4EFF-81B2-0644FAE03293}" type="pres">
      <dgm:prSet presAssocID="{90C84B8F-037D-4576-9282-CB25E5CD2ADB}" presName="sibTrans" presStyleCnt="0"/>
      <dgm:spPr/>
    </dgm:pt>
    <dgm:pt modelId="{5D07CC7F-A2AD-4B7A-B196-BE9AFC852294}" type="pres">
      <dgm:prSet presAssocID="{870BC4C6-4FBC-4F00-9BC7-21C1AE2681E7}" presName="compNode" presStyleCnt="0"/>
      <dgm:spPr/>
    </dgm:pt>
    <dgm:pt modelId="{853CDA29-3D39-4325-80A5-AA640AD8C33C}" type="pres">
      <dgm:prSet presAssocID="{870BC4C6-4FBC-4F00-9BC7-21C1AE2681E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4C3DBEB-F640-4379-92AC-2F5975338756}" type="pres">
      <dgm:prSet presAssocID="{870BC4C6-4FBC-4F00-9BC7-21C1AE2681E7}" presName="spaceRect" presStyleCnt="0"/>
      <dgm:spPr/>
    </dgm:pt>
    <dgm:pt modelId="{EE4BB2AB-679C-4768-835E-31B4D8EAFC7D}" type="pres">
      <dgm:prSet presAssocID="{870BC4C6-4FBC-4F00-9BC7-21C1AE2681E7}" presName="textRect" presStyleLbl="revTx" presStyleIdx="2" presStyleCnt="5">
        <dgm:presLayoutVars>
          <dgm:chMax val="1"/>
          <dgm:chPref val="1"/>
        </dgm:presLayoutVars>
      </dgm:prSet>
      <dgm:spPr/>
    </dgm:pt>
    <dgm:pt modelId="{374238C7-017D-4A03-B6A0-AC35B3C613E9}" type="pres">
      <dgm:prSet presAssocID="{88924009-B015-49A4-A2E0-AA8D9A6A69A4}" presName="sibTrans" presStyleCnt="0"/>
      <dgm:spPr/>
    </dgm:pt>
    <dgm:pt modelId="{6A0ACC31-CFE5-4CA8-8A41-1EC7C796CA87}" type="pres">
      <dgm:prSet presAssocID="{B68C6569-8B1E-48BC-8E97-95618ACA094C}" presName="compNode" presStyleCnt="0"/>
      <dgm:spPr/>
    </dgm:pt>
    <dgm:pt modelId="{EC965ADD-2651-418E-BBB0-F118C55ACBA1}" type="pres">
      <dgm:prSet presAssocID="{B68C6569-8B1E-48BC-8E97-95618ACA094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987E889-A466-4B04-A5AC-D7369F6DF6EA}" type="pres">
      <dgm:prSet presAssocID="{B68C6569-8B1E-48BC-8E97-95618ACA094C}" presName="spaceRect" presStyleCnt="0"/>
      <dgm:spPr/>
    </dgm:pt>
    <dgm:pt modelId="{A50A8C69-3448-4FD6-BC50-253BF63DF4F0}" type="pres">
      <dgm:prSet presAssocID="{B68C6569-8B1E-48BC-8E97-95618ACA094C}" presName="textRect" presStyleLbl="revTx" presStyleIdx="3" presStyleCnt="5">
        <dgm:presLayoutVars>
          <dgm:chMax val="1"/>
          <dgm:chPref val="1"/>
        </dgm:presLayoutVars>
      </dgm:prSet>
      <dgm:spPr/>
    </dgm:pt>
    <dgm:pt modelId="{2E280511-E104-4875-8813-7D82AF3B3D65}" type="pres">
      <dgm:prSet presAssocID="{809D1D7C-C7AA-4BFB-8BD4-3FA7E81282EA}" presName="sibTrans" presStyleCnt="0"/>
      <dgm:spPr/>
    </dgm:pt>
    <dgm:pt modelId="{EEAA8E13-7EEA-4546-94F0-169C1629911B}" type="pres">
      <dgm:prSet presAssocID="{398A1F20-B104-4FB5-B9CC-229335138E75}" presName="compNode" presStyleCnt="0"/>
      <dgm:spPr/>
    </dgm:pt>
    <dgm:pt modelId="{6F9C7C3B-A6A4-408B-A2C3-CF30A4B665E5}" type="pres">
      <dgm:prSet presAssocID="{398A1F20-B104-4FB5-B9CC-229335138E7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52FA367-E416-4287-8108-8E8E2DE4C6DE}" type="pres">
      <dgm:prSet presAssocID="{398A1F20-B104-4FB5-B9CC-229335138E75}" presName="spaceRect" presStyleCnt="0"/>
      <dgm:spPr/>
    </dgm:pt>
    <dgm:pt modelId="{4EAE20AB-A0D8-4504-AD76-C617A04E62D0}" type="pres">
      <dgm:prSet presAssocID="{398A1F20-B104-4FB5-B9CC-229335138E7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0E4A018-C837-480F-B0A5-C0A58FB74E54}" type="presOf" srcId="{B68C6569-8B1E-48BC-8E97-95618ACA094C}" destId="{A50A8C69-3448-4FD6-BC50-253BF63DF4F0}" srcOrd="0" destOrd="0" presId="urn:microsoft.com/office/officeart/2018/2/layout/IconLabelList"/>
    <dgm:cxn modelId="{6EC16F27-A2A3-4DC2-865F-E7E8BB8A1886}" type="presOf" srcId="{84DB743B-125D-4DB0-A87B-2AC0B33C555D}" destId="{DBBF65D3-84C6-4DEB-9274-81CFC118996B}" srcOrd="0" destOrd="0" presId="urn:microsoft.com/office/officeart/2018/2/layout/IconLabelList"/>
    <dgm:cxn modelId="{CC70FB2A-C02C-4201-91CF-EC2AA803D5CD}" type="presOf" srcId="{ABD7805E-58FD-40A6-97BD-2B757536AFDA}" destId="{F70247E8-61C4-4BAB-9A5F-FF67E44246C7}" srcOrd="0" destOrd="0" presId="urn:microsoft.com/office/officeart/2018/2/layout/IconLabelList"/>
    <dgm:cxn modelId="{8899FB2B-CD85-4E37-94E7-C5BD33528D84}" srcId="{ABD7805E-58FD-40A6-97BD-2B757536AFDA}" destId="{B68C6569-8B1E-48BC-8E97-95618ACA094C}" srcOrd="3" destOrd="0" parTransId="{BB18DE70-6382-49F5-9370-736F47204C66}" sibTransId="{809D1D7C-C7AA-4BFB-8BD4-3FA7E81282EA}"/>
    <dgm:cxn modelId="{ED046532-9C73-46F9-BBB1-E2E6F9061909}" type="presOf" srcId="{870BC4C6-4FBC-4F00-9BC7-21C1AE2681E7}" destId="{EE4BB2AB-679C-4768-835E-31B4D8EAFC7D}" srcOrd="0" destOrd="0" presId="urn:microsoft.com/office/officeart/2018/2/layout/IconLabelList"/>
    <dgm:cxn modelId="{24205444-CF58-49B5-B2D1-10490075B00A}" srcId="{ABD7805E-58FD-40A6-97BD-2B757536AFDA}" destId="{8D0805F5-4435-4CC6-990C-D5572E2147DE}" srcOrd="1" destOrd="0" parTransId="{6344774B-1385-43CF-9607-55ECDE315420}" sibTransId="{90C84B8F-037D-4576-9282-CB25E5CD2ADB}"/>
    <dgm:cxn modelId="{B2E46349-DF90-4339-B104-5D4B6425FCA6}" type="presOf" srcId="{398A1F20-B104-4FB5-B9CC-229335138E75}" destId="{4EAE20AB-A0D8-4504-AD76-C617A04E62D0}" srcOrd="0" destOrd="0" presId="urn:microsoft.com/office/officeart/2018/2/layout/IconLabelList"/>
    <dgm:cxn modelId="{29A49AD1-5ED5-441E-B43A-8A03C8692464}" srcId="{ABD7805E-58FD-40A6-97BD-2B757536AFDA}" destId="{84DB743B-125D-4DB0-A87B-2AC0B33C555D}" srcOrd="0" destOrd="0" parTransId="{D2DDC80A-7DE9-4D35-A4D1-E8663E4F5EE6}" sibTransId="{14394F3F-6992-44B2-94A2-C1C5962BE6C6}"/>
    <dgm:cxn modelId="{7150B0DF-3B29-4AA4-B75C-AA2716BF8571}" srcId="{ABD7805E-58FD-40A6-97BD-2B757536AFDA}" destId="{398A1F20-B104-4FB5-B9CC-229335138E75}" srcOrd="4" destOrd="0" parTransId="{43BD1028-BE29-49C1-A2BB-94D4347BB5C6}" sibTransId="{53AE8CCE-4E07-46E9-88FB-676EDE57EE41}"/>
    <dgm:cxn modelId="{D2398CE7-A0DE-4241-B246-CED4072F1D25}" type="presOf" srcId="{8D0805F5-4435-4CC6-990C-D5572E2147DE}" destId="{234D502D-D2DF-4682-8A49-88B174076A1B}" srcOrd="0" destOrd="0" presId="urn:microsoft.com/office/officeart/2018/2/layout/IconLabelList"/>
    <dgm:cxn modelId="{A5DC5AF6-A384-4BDE-8436-5BF95708E223}" srcId="{ABD7805E-58FD-40A6-97BD-2B757536AFDA}" destId="{870BC4C6-4FBC-4F00-9BC7-21C1AE2681E7}" srcOrd="2" destOrd="0" parTransId="{60F8B93E-464A-4F79-908D-95A35A1B03B5}" sibTransId="{88924009-B015-49A4-A2E0-AA8D9A6A69A4}"/>
    <dgm:cxn modelId="{45A5CE4C-67FA-4FF4-92A2-96E292A6202D}" type="presParOf" srcId="{F70247E8-61C4-4BAB-9A5F-FF67E44246C7}" destId="{92E7CC6A-4F3D-4C4E-B55E-D29EAB8E3B6C}" srcOrd="0" destOrd="0" presId="urn:microsoft.com/office/officeart/2018/2/layout/IconLabelList"/>
    <dgm:cxn modelId="{B183BF03-05AB-4927-ACE9-818FC3CC07B9}" type="presParOf" srcId="{92E7CC6A-4F3D-4C4E-B55E-D29EAB8E3B6C}" destId="{D5AC8F4C-F233-4106-80C4-8CA4FD4C57C8}" srcOrd="0" destOrd="0" presId="urn:microsoft.com/office/officeart/2018/2/layout/IconLabelList"/>
    <dgm:cxn modelId="{518D6F72-17E0-4181-A25B-F864A97EA691}" type="presParOf" srcId="{92E7CC6A-4F3D-4C4E-B55E-D29EAB8E3B6C}" destId="{D9E6C900-FA7B-4718-8978-2CBBC4D6FAD9}" srcOrd="1" destOrd="0" presId="urn:microsoft.com/office/officeart/2018/2/layout/IconLabelList"/>
    <dgm:cxn modelId="{56DC7A07-FCBD-4522-A9CF-A0E41514B2D4}" type="presParOf" srcId="{92E7CC6A-4F3D-4C4E-B55E-D29EAB8E3B6C}" destId="{DBBF65D3-84C6-4DEB-9274-81CFC118996B}" srcOrd="2" destOrd="0" presId="urn:microsoft.com/office/officeart/2018/2/layout/IconLabelList"/>
    <dgm:cxn modelId="{EC806369-E4E3-414B-9D5C-BC11516B7DA7}" type="presParOf" srcId="{F70247E8-61C4-4BAB-9A5F-FF67E44246C7}" destId="{F77A627E-5742-409C-93E7-F764720FDAFE}" srcOrd="1" destOrd="0" presId="urn:microsoft.com/office/officeart/2018/2/layout/IconLabelList"/>
    <dgm:cxn modelId="{E1137DBB-3D1C-40CB-A61E-2CDED5FAABEF}" type="presParOf" srcId="{F70247E8-61C4-4BAB-9A5F-FF67E44246C7}" destId="{76DB3266-A378-40B2-AD93-E890A2C0B801}" srcOrd="2" destOrd="0" presId="urn:microsoft.com/office/officeart/2018/2/layout/IconLabelList"/>
    <dgm:cxn modelId="{0E181C54-FDE5-46A0-B7F8-53B88B74C5FD}" type="presParOf" srcId="{76DB3266-A378-40B2-AD93-E890A2C0B801}" destId="{EA49FE6F-EC78-4630-AABD-3BC724B504C5}" srcOrd="0" destOrd="0" presId="urn:microsoft.com/office/officeart/2018/2/layout/IconLabelList"/>
    <dgm:cxn modelId="{4918841A-B177-42B5-8F9C-2FE1212E0545}" type="presParOf" srcId="{76DB3266-A378-40B2-AD93-E890A2C0B801}" destId="{C04A5D42-D1A5-40C5-9121-8CD3CF4DA1F5}" srcOrd="1" destOrd="0" presId="urn:microsoft.com/office/officeart/2018/2/layout/IconLabelList"/>
    <dgm:cxn modelId="{E92A4A23-A5E8-4A1D-8C61-93DA064C7C64}" type="presParOf" srcId="{76DB3266-A378-40B2-AD93-E890A2C0B801}" destId="{234D502D-D2DF-4682-8A49-88B174076A1B}" srcOrd="2" destOrd="0" presId="urn:microsoft.com/office/officeart/2018/2/layout/IconLabelList"/>
    <dgm:cxn modelId="{01341673-F4B7-42A5-B28A-A59F4C418931}" type="presParOf" srcId="{F70247E8-61C4-4BAB-9A5F-FF67E44246C7}" destId="{5B19DE4C-ED28-4EFF-81B2-0644FAE03293}" srcOrd="3" destOrd="0" presId="urn:microsoft.com/office/officeart/2018/2/layout/IconLabelList"/>
    <dgm:cxn modelId="{68AB7D77-ACC0-405F-B75E-8976A4698040}" type="presParOf" srcId="{F70247E8-61C4-4BAB-9A5F-FF67E44246C7}" destId="{5D07CC7F-A2AD-4B7A-B196-BE9AFC852294}" srcOrd="4" destOrd="0" presId="urn:microsoft.com/office/officeart/2018/2/layout/IconLabelList"/>
    <dgm:cxn modelId="{A8A05904-6D8B-4ADA-93F7-EB62EA2FC0EA}" type="presParOf" srcId="{5D07CC7F-A2AD-4B7A-B196-BE9AFC852294}" destId="{853CDA29-3D39-4325-80A5-AA640AD8C33C}" srcOrd="0" destOrd="0" presId="urn:microsoft.com/office/officeart/2018/2/layout/IconLabelList"/>
    <dgm:cxn modelId="{069FA1D3-8438-49B4-8A27-ADCEE8E8F91B}" type="presParOf" srcId="{5D07CC7F-A2AD-4B7A-B196-BE9AFC852294}" destId="{A4C3DBEB-F640-4379-92AC-2F5975338756}" srcOrd="1" destOrd="0" presId="urn:microsoft.com/office/officeart/2018/2/layout/IconLabelList"/>
    <dgm:cxn modelId="{BCB96FED-D0BF-4DBF-8DF6-91433D7AEACF}" type="presParOf" srcId="{5D07CC7F-A2AD-4B7A-B196-BE9AFC852294}" destId="{EE4BB2AB-679C-4768-835E-31B4D8EAFC7D}" srcOrd="2" destOrd="0" presId="urn:microsoft.com/office/officeart/2018/2/layout/IconLabelList"/>
    <dgm:cxn modelId="{39FE8A12-AFB1-4116-86BD-39A796B69441}" type="presParOf" srcId="{F70247E8-61C4-4BAB-9A5F-FF67E44246C7}" destId="{374238C7-017D-4A03-B6A0-AC35B3C613E9}" srcOrd="5" destOrd="0" presId="urn:microsoft.com/office/officeart/2018/2/layout/IconLabelList"/>
    <dgm:cxn modelId="{C766C078-E31B-4794-BE47-1DE6C141CC2C}" type="presParOf" srcId="{F70247E8-61C4-4BAB-9A5F-FF67E44246C7}" destId="{6A0ACC31-CFE5-4CA8-8A41-1EC7C796CA87}" srcOrd="6" destOrd="0" presId="urn:microsoft.com/office/officeart/2018/2/layout/IconLabelList"/>
    <dgm:cxn modelId="{108A32C7-9B9B-4435-B12C-5372F47A695F}" type="presParOf" srcId="{6A0ACC31-CFE5-4CA8-8A41-1EC7C796CA87}" destId="{EC965ADD-2651-418E-BBB0-F118C55ACBA1}" srcOrd="0" destOrd="0" presId="urn:microsoft.com/office/officeart/2018/2/layout/IconLabelList"/>
    <dgm:cxn modelId="{B464AF05-6628-4FFE-8217-4370697B365D}" type="presParOf" srcId="{6A0ACC31-CFE5-4CA8-8A41-1EC7C796CA87}" destId="{5987E889-A466-4B04-A5AC-D7369F6DF6EA}" srcOrd="1" destOrd="0" presId="urn:microsoft.com/office/officeart/2018/2/layout/IconLabelList"/>
    <dgm:cxn modelId="{882EED32-5BE9-4716-9B6F-48AAAE288FD3}" type="presParOf" srcId="{6A0ACC31-CFE5-4CA8-8A41-1EC7C796CA87}" destId="{A50A8C69-3448-4FD6-BC50-253BF63DF4F0}" srcOrd="2" destOrd="0" presId="urn:microsoft.com/office/officeart/2018/2/layout/IconLabelList"/>
    <dgm:cxn modelId="{C9E6E87A-E488-4374-9161-212D0EAA6A43}" type="presParOf" srcId="{F70247E8-61C4-4BAB-9A5F-FF67E44246C7}" destId="{2E280511-E104-4875-8813-7D82AF3B3D65}" srcOrd="7" destOrd="0" presId="urn:microsoft.com/office/officeart/2018/2/layout/IconLabelList"/>
    <dgm:cxn modelId="{9CBE3389-134D-4ECF-98A9-7B98214CC243}" type="presParOf" srcId="{F70247E8-61C4-4BAB-9A5F-FF67E44246C7}" destId="{EEAA8E13-7EEA-4546-94F0-169C1629911B}" srcOrd="8" destOrd="0" presId="urn:microsoft.com/office/officeart/2018/2/layout/IconLabelList"/>
    <dgm:cxn modelId="{62CAF837-6D19-4F33-8A29-3D0C51BECED2}" type="presParOf" srcId="{EEAA8E13-7EEA-4546-94F0-169C1629911B}" destId="{6F9C7C3B-A6A4-408B-A2C3-CF30A4B665E5}" srcOrd="0" destOrd="0" presId="urn:microsoft.com/office/officeart/2018/2/layout/IconLabelList"/>
    <dgm:cxn modelId="{C4F332B5-FE57-4F09-9364-B3F1A61D8B8C}" type="presParOf" srcId="{EEAA8E13-7EEA-4546-94F0-169C1629911B}" destId="{852FA367-E416-4287-8108-8E8E2DE4C6DE}" srcOrd="1" destOrd="0" presId="urn:microsoft.com/office/officeart/2018/2/layout/IconLabelList"/>
    <dgm:cxn modelId="{4F88B813-6727-4094-943E-0BD6C0E582B3}" type="presParOf" srcId="{EEAA8E13-7EEA-4546-94F0-169C1629911B}" destId="{4EAE20AB-A0D8-4504-AD76-C617A04E62D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480CEA-8AA3-4264-823C-FA183F02293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49AD75-55F7-4448-8AC5-DB7A599E7B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Loaded data using Python (pandas)</a:t>
          </a:r>
        </a:p>
      </dgm:t>
    </dgm:pt>
    <dgm:pt modelId="{260C2F37-2E09-4801-856A-939F425E3324}" type="parTrans" cxnId="{B266BCFB-913E-47BA-AA53-078210A65710}">
      <dgm:prSet/>
      <dgm:spPr/>
      <dgm:t>
        <a:bodyPr/>
        <a:lstStyle/>
        <a:p>
          <a:endParaRPr lang="en-US"/>
        </a:p>
      </dgm:t>
    </dgm:pt>
    <dgm:pt modelId="{64934730-3206-4F20-8288-7DDAEA5D7355}" type="sibTrans" cxnId="{B266BCFB-913E-47BA-AA53-078210A65710}">
      <dgm:prSet/>
      <dgm:spPr/>
      <dgm:t>
        <a:bodyPr/>
        <a:lstStyle/>
        <a:p>
          <a:endParaRPr lang="en-US"/>
        </a:p>
      </dgm:t>
    </dgm:pt>
    <dgm:pt modelId="{6A6DD266-A3FE-42CE-B328-0C16AB45B0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Checked structure: data types, null values</a:t>
          </a:r>
        </a:p>
      </dgm:t>
    </dgm:pt>
    <dgm:pt modelId="{804C3EAA-8131-437C-8F05-1A369B6D6B22}" type="parTrans" cxnId="{AE61D692-BFA0-4213-8013-897A48EC8709}">
      <dgm:prSet/>
      <dgm:spPr/>
      <dgm:t>
        <a:bodyPr/>
        <a:lstStyle/>
        <a:p>
          <a:endParaRPr lang="en-US"/>
        </a:p>
      </dgm:t>
    </dgm:pt>
    <dgm:pt modelId="{09C3E988-EA12-4CAB-BC35-C88A83856590}" type="sibTrans" cxnId="{AE61D692-BFA0-4213-8013-897A48EC8709}">
      <dgm:prSet/>
      <dgm:spPr/>
      <dgm:t>
        <a:bodyPr/>
        <a:lstStyle/>
        <a:p>
          <a:endParaRPr lang="en-US"/>
        </a:p>
      </dgm:t>
    </dgm:pt>
    <dgm:pt modelId="{A428562C-FBE7-412E-80E3-6C62B601CC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Explored distributions of loan size, funding, and duration</a:t>
          </a:r>
        </a:p>
      </dgm:t>
    </dgm:pt>
    <dgm:pt modelId="{25863A87-26AC-4733-BB71-295BF8EA45DC}" type="parTrans" cxnId="{CE205A48-B318-4610-BDDF-F7FAD35E01DE}">
      <dgm:prSet/>
      <dgm:spPr/>
      <dgm:t>
        <a:bodyPr/>
        <a:lstStyle/>
        <a:p>
          <a:endParaRPr lang="en-US"/>
        </a:p>
      </dgm:t>
    </dgm:pt>
    <dgm:pt modelId="{32C96C9A-1D05-4FC3-9284-D550F1CF06B3}" type="sibTrans" cxnId="{CE205A48-B318-4610-BDDF-F7FAD35E01DE}">
      <dgm:prSet/>
      <dgm:spPr/>
      <dgm:t>
        <a:bodyPr/>
        <a:lstStyle/>
        <a:p>
          <a:endParaRPr lang="en-US"/>
        </a:p>
      </dgm:t>
    </dgm:pt>
    <dgm:pt modelId="{630FB164-9692-48BE-A09E-F630DE0F6A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Identified early issues (missing values, inconsistent types)</a:t>
          </a:r>
        </a:p>
      </dgm:t>
    </dgm:pt>
    <dgm:pt modelId="{93B62884-8E97-4759-BFD9-35CF8DC0C646}" type="parTrans" cxnId="{9A0EF55B-D643-4692-9F44-0753A08A42D1}">
      <dgm:prSet/>
      <dgm:spPr/>
      <dgm:t>
        <a:bodyPr/>
        <a:lstStyle/>
        <a:p>
          <a:endParaRPr lang="en-US"/>
        </a:p>
      </dgm:t>
    </dgm:pt>
    <dgm:pt modelId="{11F1ED41-046C-4430-A0B4-5CB6C3B78FED}" type="sibTrans" cxnId="{9A0EF55B-D643-4692-9F44-0753A08A42D1}">
      <dgm:prSet/>
      <dgm:spPr/>
      <dgm:t>
        <a:bodyPr/>
        <a:lstStyle/>
        <a:p>
          <a:endParaRPr lang="en-US"/>
        </a:p>
      </dgm:t>
    </dgm:pt>
    <dgm:pt modelId="{F16300D4-ADC7-432B-B7E5-374F5EA9BFF8}" type="pres">
      <dgm:prSet presAssocID="{7E480CEA-8AA3-4264-823C-FA183F022937}" presName="root" presStyleCnt="0">
        <dgm:presLayoutVars>
          <dgm:dir/>
          <dgm:resizeHandles val="exact"/>
        </dgm:presLayoutVars>
      </dgm:prSet>
      <dgm:spPr/>
    </dgm:pt>
    <dgm:pt modelId="{DD071D7F-63ED-4E4B-A664-5569E8510BEE}" type="pres">
      <dgm:prSet presAssocID="{A349AD75-55F7-4448-8AC5-DB7A599E7B99}" presName="compNode" presStyleCnt="0"/>
      <dgm:spPr/>
    </dgm:pt>
    <dgm:pt modelId="{8035B5EC-52D0-495A-9F06-A76FC342D963}" type="pres">
      <dgm:prSet presAssocID="{A349AD75-55F7-4448-8AC5-DB7A599E7B9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C16090E2-2740-41C8-BBDC-828ACCFDDEFB}" type="pres">
      <dgm:prSet presAssocID="{A349AD75-55F7-4448-8AC5-DB7A599E7B99}" presName="spaceRect" presStyleCnt="0"/>
      <dgm:spPr/>
    </dgm:pt>
    <dgm:pt modelId="{A06AAD73-D7C5-41FB-A9DE-7D4E154ED34F}" type="pres">
      <dgm:prSet presAssocID="{A349AD75-55F7-4448-8AC5-DB7A599E7B99}" presName="textRect" presStyleLbl="revTx" presStyleIdx="0" presStyleCnt="4">
        <dgm:presLayoutVars>
          <dgm:chMax val="1"/>
          <dgm:chPref val="1"/>
        </dgm:presLayoutVars>
      </dgm:prSet>
      <dgm:spPr/>
    </dgm:pt>
    <dgm:pt modelId="{490BF043-9C9E-4755-8482-E2CFD313A0CC}" type="pres">
      <dgm:prSet presAssocID="{64934730-3206-4F20-8288-7DDAEA5D7355}" presName="sibTrans" presStyleCnt="0"/>
      <dgm:spPr/>
    </dgm:pt>
    <dgm:pt modelId="{7AF8A890-2A57-445A-B003-95ADD4AB6B54}" type="pres">
      <dgm:prSet presAssocID="{6A6DD266-A3FE-42CE-B328-0C16AB45B004}" presName="compNode" presStyleCnt="0"/>
      <dgm:spPr/>
    </dgm:pt>
    <dgm:pt modelId="{7C4A0F99-2CD6-48B0-87CE-70ADE23E50E3}" type="pres">
      <dgm:prSet presAssocID="{6A6DD266-A3FE-42CE-B328-0C16AB45B00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2CFB21E0-943A-44C5-8390-833D316AA2C1}" type="pres">
      <dgm:prSet presAssocID="{6A6DD266-A3FE-42CE-B328-0C16AB45B004}" presName="spaceRect" presStyleCnt="0"/>
      <dgm:spPr/>
    </dgm:pt>
    <dgm:pt modelId="{3C6B8C24-A8E6-46B4-83E1-5E4E8AB518C7}" type="pres">
      <dgm:prSet presAssocID="{6A6DD266-A3FE-42CE-B328-0C16AB45B004}" presName="textRect" presStyleLbl="revTx" presStyleIdx="1" presStyleCnt="4">
        <dgm:presLayoutVars>
          <dgm:chMax val="1"/>
          <dgm:chPref val="1"/>
        </dgm:presLayoutVars>
      </dgm:prSet>
      <dgm:spPr/>
    </dgm:pt>
    <dgm:pt modelId="{6788C0B3-EBC0-446C-B60B-9D440C5E62F6}" type="pres">
      <dgm:prSet presAssocID="{09C3E988-EA12-4CAB-BC35-C88A83856590}" presName="sibTrans" presStyleCnt="0"/>
      <dgm:spPr/>
    </dgm:pt>
    <dgm:pt modelId="{51225AE3-CD4B-4706-B9E8-302C4FD08750}" type="pres">
      <dgm:prSet presAssocID="{A428562C-FBE7-412E-80E3-6C62B601CC1E}" presName="compNode" presStyleCnt="0"/>
      <dgm:spPr/>
    </dgm:pt>
    <dgm:pt modelId="{BE224D99-6B65-411C-AD3B-BC9650B22932}" type="pres">
      <dgm:prSet presAssocID="{A428562C-FBE7-412E-80E3-6C62B601CC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8C96DEF9-3D76-492F-BE03-76D5A2C1A610}" type="pres">
      <dgm:prSet presAssocID="{A428562C-FBE7-412E-80E3-6C62B601CC1E}" presName="spaceRect" presStyleCnt="0"/>
      <dgm:spPr/>
    </dgm:pt>
    <dgm:pt modelId="{1230E3E9-4218-4836-8EB9-D991F463EC2D}" type="pres">
      <dgm:prSet presAssocID="{A428562C-FBE7-412E-80E3-6C62B601CC1E}" presName="textRect" presStyleLbl="revTx" presStyleIdx="2" presStyleCnt="4">
        <dgm:presLayoutVars>
          <dgm:chMax val="1"/>
          <dgm:chPref val="1"/>
        </dgm:presLayoutVars>
      </dgm:prSet>
      <dgm:spPr/>
    </dgm:pt>
    <dgm:pt modelId="{C457316E-B3F1-47D0-8F51-BFEB3E4724BF}" type="pres">
      <dgm:prSet presAssocID="{32C96C9A-1D05-4FC3-9284-D550F1CF06B3}" presName="sibTrans" presStyleCnt="0"/>
      <dgm:spPr/>
    </dgm:pt>
    <dgm:pt modelId="{92AA5BBF-50DC-4046-98B5-2C956E8A6A3B}" type="pres">
      <dgm:prSet presAssocID="{630FB164-9692-48BE-A09E-F630DE0F6AD9}" presName="compNode" presStyleCnt="0"/>
      <dgm:spPr/>
    </dgm:pt>
    <dgm:pt modelId="{5CAF0FBA-0708-48E3-BE1A-A9D4CB4F7D53}" type="pres">
      <dgm:prSet presAssocID="{630FB164-9692-48BE-A09E-F630DE0F6AD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CDF6D742-26C6-43D1-A4BD-FD22522BE09B}" type="pres">
      <dgm:prSet presAssocID="{630FB164-9692-48BE-A09E-F630DE0F6AD9}" presName="spaceRect" presStyleCnt="0"/>
      <dgm:spPr/>
    </dgm:pt>
    <dgm:pt modelId="{BC51AA66-6A57-4E7E-8D9F-A9A65B3937A1}" type="pres">
      <dgm:prSet presAssocID="{630FB164-9692-48BE-A09E-F630DE0F6AD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328A910-52F9-4D58-8909-C91613EA17BC}" type="presOf" srcId="{630FB164-9692-48BE-A09E-F630DE0F6AD9}" destId="{BC51AA66-6A57-4E7E-8D9F-A9A65B3937A1}" srcOrd="0" destOrd="0" presId="urn:microsoft.com/office/officeart/2018/2/layout/IconLabelList"/>
    <dgm:cxn modelId="{D2439525-3248-4D15-BB91-7CE9AD542A19}" type="presOf" srcId="{A349AD75-55F7-4448-8AC5-DB7A599E7B99}" destId="{A06AAD73-D7C5-41FB-A9DE-7D4E154ED34F}" srcOrd="0" destOrd="0" presId="urn:microsoft.com/office/officeart/2018/2/layout/IconLabelList"/>
    <dgm:cxn modelId="{9A0EF55B-D643-4692-9F44-0753A08A42D1}" srcId="{7E480CEA-8AA3-4264-823C-FA183F022937}" destId="{630FB164-9692-48BE-A09E-F630DE0F6AD9}" srcOrd="3" destOrd="0" parTransId="{93B62884-8E97-4759-BFD9-35CF8DC0C646}" sibTransId="{11F1ED41-046C-4430-A0B4-5CB6C3B78FED}"/>
    <dgm:cxn modelId="{B85C7C61-7CE8-4DC4-B10A-8C96FA6F82FD}" type="presOf" srcId="{7E480CEA-8AA3-4264-823C-FA183F022937}" destId="{F16300D4-ADC7-432B-B7E5-374F5EA9BFF8}" srcOrd="0" destOrd="0" presId="urn:microsoft.com/office/officeart/2018/2/layout/IconLabelList"/>
    <dgm:cxn modelId="{CE205A48-B318-4610-BDDF-F7FAD35E01DE}" srcId="{7E480CEA-8AA3-4264-823C-FA183F022937}" destId="{A428562C-FBE7-412E-80E3-6C62B601CC1E}" srcOrd="2" destOrd="0" parTransId="{25863A87-26AC-4733-BB71-295BF8EA45DC}" sibTransId="{32C96C9A-1D05-4FC3-9284-D550F1CF06B3}"/>
    <dgm:cxn modelId="{900C6C70-A2AA-46CF-BD11-ADCB62A8DFDE}" type="presOf" srcId="{6A6DD266-A3FE-42CE-B328-0C16AB45B004}" destId="{3C6B8C24-A8E6-46B4-83E1-5E4E8AB518C7}" srcOrd="0" destOrd="0" presId="urn:microsoft.com/office/officeart/2018/2/layout/IconLabelList"/>
    <dgm:cxn modelId="{AE61D692-BFA0-4213-8013-897A48EC8709}" srcId="{7E480CEA-8AA3-4264-823C-FA183F022937}" destId="{6A6DD266-A3FE-42CE-B328-0C16AB45B004}" srcOrd="1" destOrd="0" parTransId="{804C3EAA-8131-437C-8F05-1A369B6D6B22}" sibTransId="{09C3E988-EA12-4CAB-BC35-C88A83856590}"/>
    <dgm:cxn modelId="{0F8D05A5-152B-4A22-85ED-64319B12DC1F}" type="presOf" srcId="{A428562C-FBE7-412E-80E3-6C62B601CC1E}" destId="{1230E3E9-4218-4836-8EB9-D991F463EC2D}" srcOrd="0" destOrd="0" presId="urn:microsoft.com/office/officeart/2018/2/layout/IconLabelList"/>
    <dgm:cxn modelId="{B266BCFB-913E-47BA-AA53-078210A65710}" srcId="{7E480CEA-8AA3-4264-823C-FA183F022937}" destId="{A349AD75-55F7-4448-8AC5-DB7A599E7B99}" srcOrd="0" destOrd="0" parTransId="{260C2F37-2E09-4801-856A-939F425E3324}" sibTransId="{64934730-3206-4F20-8288-7DDAEA5D7355}"/>
    <dgm:cxn modelId="{A47EB134-A3DE-4242-9000-767F6D0BD02A}" type="presParOf" srcId="{F16300D4-ADC7-432B-B7E5-374F5EA9BFF8}" destId="{DD071D7F-63ED-4E4B-A664-5569E8510BEE}" srcOrd="0" destOrd="0" presId="urn:microsoft.com/office/officeart/2018/2/layout/IconLabelList"/>
    <dgm:cxn modelId="{42A057D4-7DDF-4BB5-A97C-4FCDAD13C6C5}" type="presParOf" srcId="{DD071D7F-63ED-4E4B-A664-5569E8510BEE}" destId="{8035B5EC-52D0-495A-9F06-A76FC342D963}" srcOrd="0" destOrd="0" presId="urn:microsoft.com/office/officeart/2018/2/layout/IconLabelList"/>
    <dgm:cxn modelId="{AA01E9A7-59D9-42A0-ADB6-A9044B1F4D51}" type="presParOf" srcId="{DD071D7F-63ED-4E4B-A664-5569E8510BEE}" destId="{C16090E2-2740-41C8-BBDC-828ACCFDDEFB}" srcOrd="1" destOrd="0" presId="urn:microsoft.com/office/officeart/2018/2/layout/IconLabelList"/>
    <dgm:cxn modelId="{A40B5311-7B4D-4789-A533-63145CC34F95}" type="presParOf" srcId="{DD071D7F-63ED-4E4B-A664-5569E8510BEE}" destId="{A06AAD73-D7C5-41FB-A9DE-7D4E154ED34F}" srcOrd="2" destOrd="0" presId="urn:microsoft.com/office/officeart/2018/2/layout/IconLabelList"/>
    <dgm:cxn modelId="{1D22F9D5-6035-4F8F-9719-92CDDEC21792}" type="presParOf" srcId="{F16300D4-ADC7-432B-B7E5-374F5EA9BFF8}" destId="{490BF043-9C9E-4755-8482-E2CFD313A0CC}" srcOrd="1" destOrd="0" presId="urn:microsoft.com/office/officeart/2018/2/layout/IconLabelList"/>
    <dgm:cxn modelId="{FD4841DE-F539-4438-93AA-84108746D7CD}" type="presParOf" srcId="{F16300D4-ADC7-432B-B7E5-374F5EA9BFF8}" destId="{7AF8A890-2A57-445A-B003-95ADD4AB6B54}" srcOrd="2" destOrd="0" presId="urn:microsoft.com/office/officeart/2018/2/layout/IconLabelList"/>
    <dgm:cxn modelId="{B653DB75-6E8E-4F94-A85B-2AF48F3CA573}" type="presParOf" srcId="{7AF8A890-2A57-445A-B003-95ADD4AB6B54}" destId="{7C4A0F99-2CD6-48B0-87CE-70ADE23E50E3}" srcOrd="0" destOrd="0" presId="urn:microsoft.com/office/officeart/2018/2/layout/IconLabelList"/>
    <dgm:cxn modelId="{7D6EE20C-0CC2-4662-B508-CF0C342E9AF2}" type="presParOf" srcId="{7AF8A890-2A57-445A-B003-95ADD4AB6B54}" destId="{2CFB21E0-943A-44C5-8390-833D316AA2C1}" srcOrd="1" destOrd="0" presId="urn:microsoft.com/office/officeart/2018/2/layout/IconLabelList"/>
    <dgm:cxn modelId="{BD88A196-2FC0-45F9-8DEE-5E3F00F12AF6}" type="presParOf" srcId="{7AF8A890-2A57-445A-B003-95ADD4AB6B54}" destId="{3C6B8C24-A8E6-46B4-83E1-5E4E8AB518C7}" srcOrd="2" destOrd="0" presId="urn:microsoft.com/office/officeart/2018/2/layout/IconLabelList"/>
    <dgm:cxn modelId="{B94A4454-A7D1-4821-BB5E-B4AA9C09E291}" type="presParOf" srcId="{F16300D4-ADC7-432B-B7E5-374F5EA9BFF8}" destId="{6788C0B3-EBC0-446C-B60B-9D440C5E62F6}" srcOrd="3" destOrd="0" presId="urn:microsoft.com/office/officeart/2018/2/layout/IconLabelList"/>
    <dgm:cxn modelId="{46225B53-D5B3-470F-AAE9-2D7C1E86C7A5}" type="presParOf" srcId="{F16300D4-ADC7-432B-B7E5-374F5EA9BFF8}" destId="{51225AE3-CD4B-4706-B9E8-302C4FD08750}" srcOrd="4" destOrd="0" presId="urn:microsoft.com/office/officeart/2018/2/layout/IconLabelList"/>
    <dgm:cxn modelId="{577D7470-B7E7-4500-B834-21F11290D39D}" type="presParOf" srcId="{51225AE3-CD4B-4706-B9E8-302C4FD08750}" destId="{BE224D99-6B65-411C-AD3B-BC9650B22932}" srcOrd="0" destOrd="0" presId="urn:microsoft.com/office/officeart/2018/2/layout/IconLabelList"/>
    <dgm:cxn modelId="{6A1FBD76-CDBC-40F5-98A1-37EB8E3D442C}" type="presParOf" srcId="{51225AE3-CD4B-4706-B9E8-302C4FD08750}" destId="{8C96DEF9-3D76-492F-BE03-76D5A2C1A610}" srcOrd="1" destOrd="0" presId="urn:microsoft.com/office/officeart/2018/2/layout/IconLabelList"/>
    <dgm:cxn modelId="{2A0A9FBC-4B9C-4BB0-98CE-DFDD8A743DE6}" type="presParOf" srcId="{51225AE3-CD4B-4706-B9E8-302C4FD08750}" destId="{1230E3E9-4218-4836-8EB9-D991F463EC2D}" srcOrd="2" destOrd="0" presId="urn:microsoft.com/office/officeart/2018/2/layout/IconLabelList"/>
    <dgm:cxn modelId="{5A4201D0-E3D5-4774-8778-070CDFB440FC}" type="presParOf" srcId="{F16300D4-ADC7-432B-B7E5-374F5EA9BFF8}" destId="{C457316E-B3F1-47D0-8F51-BFEB3E4724BF}" srcOrd="5" destOrd="0" presId="urn:microsoft.com/office/officeart/2018/2/layout/IconLabelList"/>
    <dgm:cxn modelId="{3BBEE3A4-4CF2-4525-998D-349033F9502F}" type="presParOf" srcId="{F16300D4-ADC7-432B-B7E5-374F5EA9BFF8}" destId="{92AA5BBF-50DC-4046-98B5-2C956E8A6A3B}" srcOrd="6" destOrd="0" presId="urn:microsoft.com/office/officeart/2018/2/layout/IconLabelList"/>
    <dgm:cxn modelId="{72660D5B-64DF-4ACA-87B6-11F33C424DDD}" type="presParOf" srcId="{92AA5BBF-50DC-4046-98B5-2C956E8A6A3B}" destId="{5CAF0FBA-0708-48E3-BE1A-A9D4CB4F7D53}" srcOrd="0" destOrd="0" presId="urn:microsoft.com/office/officeart/2018/2/layout/IconLabelList"/>
    <dgm:cxn modelId="{E7253DE9-9473-4F2E-A0CE-451D91B7333A}" type="presParOf" srcId="{92AA5BBF-50DC-4046-98B5-2C956E8A6A3B}" destId="{CDF6D742-26C6-43D1-A4BD-FD22522BE09B}" srcOrd="1" destOrd="0" presId="urn:microsoft.com/office/officeart/2018/2/layout/IconLabelList"/>
    <dgm:cxn modelId="{CFF1CC5A-FDE5-4A1C-9637-6D049DAC425D}" type="presParOf" srcId="{92AA5BBF-50DC-4046-98B5-2C956E8A6A3B}" destId="{BC51AA66-6A57-4E7E-8D9F-A9A65B3937A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4570E7-467D-4C16-9BC2-B9EC7A438AA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644F3A5-ACFA-496C-9FFA-DAFFD28CD9BC}">
      <dgm:prSet/>
      <dgm:spPr/>
      <dgm:t>
        <a:bodyPr/>
        <a:lstStyle/>
        <a:p>
          <a:r>
            <a:rPr lang="en-US"/>
            <a:t>Transformed data into time series format based on date</a:t>
          </a:r>
        </a:p>
      </dgm:t>
    </dgm:pt>
    <dgm:pt modelId="{7295CC83-D0CE-4EE7-B428-B4E50D4885E5}" type="parTrans" cxnId="{0DCCA08A-9466-4860-94AC-275E53D94860}">
      <dgm:prSet/>
      <dgm:spPr/>
      <dgm:t>
        <a:bodyPr/>
        <a:lstStyle/>
        <a:p>
          <a:endParaRPr lang="en-US"/>
        </a:p>
      </dgm:t>
    </dgm:pt>
    <dgm:pt modelId="{30915ABE-648D-43FE-8F44-A5405699D427}" type="sibTrans" cxnId="{0DCCA08A-9466-4860-94AC-275E53D94860}">
      <dgm:prSet/>
      <dgm:spPr/>
      <dgm:t>
        <a:bodyPr/>
        <a:lstStyle/>
        <a:p>
          <a:endParaRPr lang="en-US"/>
        </a:p>
      </dgm:t>
    </dgm:pt>
    <dgm:pt modelId="{B4FE80D8-C900-476B-8399-0DF31F8DC1FA}">
      <dgm:prSet/>
      <dgm:spPr/>
      <dgm:t>
        <a:bodyPr/>
        <a:lstStyle/>
        <a:p>
          <a:r>
            <a:rPr lang="en-US"/>
            <a:t>Resampled data annually for ARIMA forecasting</a:t>
          </a:r>
        </a:p>
      </dgm:t>
    </dgm:pt>
    <dgm:pt modelId="{6DC77D73-E0C8-4635-AED7-083CC450F585}" type="parTrans" cxnId="{91019A6E-CC23-4AD9-8705-92F9D2B9B4CB}">
      <dgm:prSet/>
      <dgm:spPr/>
      <dgm:t>
        <a:bodyPr/>
        <a:lstStyle/>
        <a:p>
          <a:endParaRPr lang="en-US"/>
        </a:p>
      </dgm:t>
    </dgm:pt>
    <dgm:pt modelId="{EEFEFBAA-400F-4792-9EE0-B2F6F52230B7}" type="sibTrans" cxnId="{91019A6E-CC23-4AD9-8705-92F9D2B9B4CB}">
      <dgm:prSet/>
      <dgm:spPr/>
      <dgm:t>
        <a:bodyPr/>
        <a:lstStyle/>
        <a:p>
          <a:endParaRPr lang="en-US"/>
        </a:p>
      </dgm:t>
    </dgm:pt>
    <dgm:pt modelId="{1DD3769C-BA8E-4DAC-BFFC-0A21737509C4}">
      <dgm:prSet/>
      <dgm:spPr/>
      <dgm:t>
        <a:bodyPr/>
        <a:lstStyle/>
        <a:p>
          <a:r>
            <a:rPr lang="en-US"/>
            <a:t>Trained ARIMA(1,1,1) model to forecast loan amounts</a:t>
          </a:r>
        </a:p>
      </dgm:t>
    </dgm:pt>
    <dgm:pt modelId="{0426BF80-10CE-4EB0-8641-F1D89A5D8DFF}" type="parTrans" cxnId="{25D7B190-9769-4D4F-A0ED-E77FB7A2554E}">
      <dgm:prSet/>
      <dgm:spPr/>
      <dgm:t>
        <a:bodyPr/>
        <a:lstStyle/>
        <a:p>
          <a:endParaRPr lang="en-US"/>
        </a:p>
      </dgm:t>
    </dgm:pt>
    <dgm:pt modelId="{8A5DB46F-CB1F-4C40-B468-1D74590268D9}" type="sibTrans" cxnId="{25D7B190-9769-4D4F-A0ED-E77FB7A2554E}">
      <dgm:prSet/>
      <dgm:spPr/>
      <dgm:t>
        <a:bodyPr/>
        <a:lstStyle/>
        <a:p>
          <a:endParaRPr lang="en-US"/>
        </a:p>
      </dgm:t>
    </dgm:pt>
    <dgm:pt modelId="{F09880AB-6B41-4D5E-AFD6-1B45C7518E3E}">
      <dgm:prSet/>
      <dgm:spPr/>
      <dgm:t>
        <a:bodyPr/>
        <a:lstStyle/>
        <a:p>
          <a:r>
            <a:rPr lang="en-US"/>
            <a:t>Results suggest a flat future trend due to limited time points</a:t>
          </a:r>
        </a:p>
      </dgm:t>
    </dgm:pt>
    <dgm:pt modelId="{C1F0D779-3DE5-4562-8445-F6ABC70F7137}" type="parTrans" cxnId="{BFAAC754-FE4D-4569-9DCB-12C27B0D46C7}">
      <dgm:prSet/>
      <dgm:spPr/>
      <dgm:t>
        <a:bodyPr/>
        <a:lstStyle/>
        <a:p>
          <a:endParaRPr lang="en-US"/>
        </a:p>
      </dgm:t>
    </dgm:pt>
    <dgm:pt modelId="{F7739906-757F-4CCF-8F61-82F357B59BA5}" type="sibTrans" cxnId="{BFAAC754-FE4D-4569-9DCB-12C27B0D46C7}">
      <dgm:prSet/>
      <dgm:spPr/>
      <dgm:t>
        <a:bodyPr/>
        <a:lstStyle/>
        <a:p>
          <a:endParaRPr lang="en-US"/>
        </a:p>
      </dgm:t>
    </dgm:pt>
    <dgm:pt modelId="{73B153B7-0569-4AD2-87B0-471EBBEBDD07}">
      <dgm:prSet/>
      <dgm:spPr/>
      <dgm:t>
        <a:bodyPr/>
        <a:lstStyle/>
        <a:p>
          <a:r>
            <a:rPr lang="en-US" dirty="0"/>
            <a:t>Sector-based trends show </a:t>
          </a:r>
          <a:r>
            <a:rPr lang="en-US" b="1" dirty="0"/>
            <a:t>Agriculture</a:t>
          </a:r>
          <a:r>
            <a:rPr lang="en-US" dirty="0"/>
            <a:t> and </a:t>
          </a:r>
          <a:r>
            <a:rPr lang="en-US" b="1" dirty="0"/>
            <a:t>Food</a:t>
          </a:r>
          <a:r>
            <a:rPr lang="en-US" dirty="0"/>
            <a:t> leading consistently</a:t>
          </a:r>
        </a:p>
      </dgm:t>
    </dgm:pt>
    <dgm:pt modelId="{2AED3C8E-5E01-4EFE-BC02-3483573C4E8C}" type="parTrans" cxnId="{D0D48CF3-A8C6-4EA0-9BFD-A03F46163982}">
      <dgm:prSet/>
      <dgm:spPr/>
      <dgm:t>
        <a:bodyPr/>
        <a:lstStyle/>
        <a:p>
          <a:endParaRPr lang="en-US"/>
        </a:p>
      </dgm:t>
    </dgm:pt>
    <dgm:pt modelId="{30C82237-60E9-4E05-9EC3-0502B3608A07}" type="sibTrans" cxnId="{D0D48CF3-A8C6-4EA0-9BFD-A03F46163982}">
      <dgm:prSet/>
      <dgm:spPr/>
      <dgm:t>
        <a:bodyPr/>
        <a:lstStyle/>
        <a:p>
          <a:endParaRPr lang="en-US"/>
        </a:p>
      </dgm:t>
    </dgm:pt>
    <dgm:pt modelId="{1D22BF11-CEB0-4AC2-A3B3-AF3913367CE4}" type="pres">
      <dgm:prSet presAssocID="{744570E7-467D-4C16-9BC2-B9EC7A438AAD}" presName="root" presStyleCnt="0">
        <dgm:presLayoutVars>
          <dgm:dir/>
          <dgm:resizeHandles val="exact"/>
        </dgm:presLayoutVars>
      </dgm:prSet>
      <dgm:spPr/>
    </dgm:pt>
    <dgm:pt modelId="{B80D37B1-65EA-44A5-8C2D-1542130E3DDF}" type="pres">
      <dgm:prSet presAssocID="{0644F3A5-ACFA-496C-9FFA-DAFFD28CD9BC}" presName="compNode" presStyleCnt="0"/>
      <dgm:spPr/>
    </dgm:pt>
    <dgm:pt modelId="{3E79E62A-C6E3-405C-B323-C3129F72E89E}" type="pres">
      <dgm:prSet presAssocID="{0644F3A5-ACFA-496C-9FFA-DAFFD28CD9B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3D6D4D0-7445-40AC-A629-1109CD69C543}" type="pres">
      <dgm:prSet presAssocID="{0644F3A5-ACFA-496C-9FFA-DAFFD28CD9BC}" presName="spaceRect" presStyleCnt="0"/>
      <dgm:spPr/>
    </dgm:pt>
    <dgm:pt modelId="{B198B744-D124-4CAE-9E23-A0864F337908}" type="pres">
      <dgm:prSet presAssocID="{0644F3A5-ACFA-496C-9FFA-DAFFD28CD9BC}" presName="textRect" presStyleLbl="revTx" presStyleIdx="0" presStyleCnt="5">
        <dgm:presLayoutVars>
          <dgm:chMax val="1"/>
          <dgm:chPref val="1"/>
        </dgm:presLayoutVars>
      </dgm:prSet>
      <dgm:spPr/>
    </dgm:pt>
    <dgm:pt modelId="{FD2103A7-EDAB-4BEF-8758-D873B9E75A68}" type="pres">
      <dgm:prSet presAssocID="{30915ABE-648D-43FE-8F44-A5405699D427}" presName="sibTrans" presStyleCnt="0"/>
      <dgm:spPr/>
    </dgm:pt>
    <dgm:pt modelId="{EA1E4A3C-A677-42C7-AA67-A9782ADBCC88}" type="pres">
      <dgm:prSet presAssocID="{B4FE80D8-C900-476B-8399-0DF31F8DC1FA}" presName="compNode" presStyleCnt="0"/>
      <dgm:spPr/>
    </dgm:pt>
    <dgm:pt modelId="{B1B23B8D-74EA-4150-8633-539FDA6CC077}" type="pres">
      <dgm:prSet presAssocID="{B4FE80D8-C900-476B-8399-0DF31F8DC1F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308DE26-2F80-4EF6-9A0D-DD7ADB78B650}" type="pres">
      <dgm:prSet presAssocID="{B4FE80D8-C900-476B-8399-0DF31F8DC1FA}" presName="spaceRect" presStyleCnt="0"/>
      <dgm:spPr/>
    </dgm:pt>
    <dgm:pt modelId="{0B856193-B11B-40BF-974A-7BC69B063295}" type="pres">
      <dgm:prSet presAssocID="{B4FE80D8-C900-476B-8399-0DF31F8DC1FA}" presName="textRect" presStyleLbl="revTx" presStyleIdx="1" presStyleCnt="5">
        <dgm:presLayoutVars>
          <dgm:chMax val="1"/>
          <dgm:chPref val="1"/>
        </dgm:presLayoutVars>
      </dgm:prSet>
      <dgm:spPr/>
    </dgm:pt>
    <dgm:pt modelId="{ABCA702E-FB81-4187-8063-8653AE37898B}" type="pres">
      <dgm:prSet presAssocID="{EEFEFBAA-400F-4792-9EE0-B2F6F52230B7}" presName="sibTrans" presStyleCnt="0"/>
      <dgm:spPr/>
    </dgm:pt>
    <dgm:pt modelId="{609AD722-6903-4143-ACEB-02EAA9D42C24}" type="pres">
      <dgm:prSet presAssocID="{1DD3769C-BA8E-4DAC-BFFC-0A21737509C4}" presName="compNode" presStyleCnt="0"/>
      <dgm:spPr/>
    </dgm:pt>
    <dgm:pt modelId="{D70488AB-7A8A-4D3C-8A7A-B9C9A6FEAA8D}" type="pres">
      <dgm:prSet presAssocID="{1DD3769C-BA8E-4DAC-BFFC-0A21737509C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F12B0A6-5157-488A-81A0-E3046E0B4C1A}" type="pres">
      <dgm:prSet presAssocID="{1DD3769C-BA8E-4DAC-BFFC-0A21737509C4}" presName="spaceRect" presStyleCnt="0"/>
      <dgm:spPr/>
    </dgm:pt>
    <dgm:pt modelId="{D2115BA8-9F75-4603-A83C-C27FC574DDA6}" type="pres">
      <dgm:prSet presAssocID="{1DD3769C-BA8E-4DAC-BFFC-0A21737509C4}" presName="textRect" presStyleLbl="revTx" presStyleIdx="2" presStyleCnt="5">
        <dgm:presLayoutVars>
          <dgm:chMax val="1"/>
          <dgm:chPref val="1"/>
        </dgm:presLayoutVars>
      </dgm:prSet>
      <dgm:spPr/>
    </dgm:pt>
    <dgm:pt modelId="{03B5F90B-AFD4-40A8-A0C2-7066B72EA3FE}" type="pres">
      <dgm:prSet presAssocID="{8A5DB46F-CB1F-4C40-B468-1D74590268D9}" presName="sibTrans" presStyleCnt="0"/>
      <dgm:spPr/>
    </dgm:pt>
    <dgm:pt modelId="{5055D08F-4AAA-4404-AAAF-DEE444304C00}" type="pres">
      <dgm:prSet presAssocID="{F09880AB-6B41-4D5E-AFD6-1B45C7518E3E}" presName="compNode" presStyleCnt="0"/>
      <dgm:spPr/>
    </dgm:pt>
    <dgm:pt modelId="{10F9B032-0667-444A-A803-8CC86F5A6A6D}" type="pres">
      <dgm:prSet presAssocID="{F09880AB-6B41-4D5E-AFD6-1B45C7518E3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721F5DC-A3E2-4B9D-969D-F190A80295FD}" type="pres">
      <dgm:prSet presAssocID="{F09880AB-6B41-4D5E-AFD6-1B45C7518E3E}" presName="spaceRect" presStyleCnt="0"/>
      <dgm:spPr/>
    </dgm:pt>
    <dgm:pt modelId="{30723503-F168-433A-8D9B-72B7F46B9739}" type="pres">
      <dgm:prSet presAssocID="{F09880AB-6B41-4D5E-AFD6-1B45C7518E3E}" presName="textRect" presStyleLbl="revTx" presStyleIdx="3" presStyleCnt="5">
        <dgm:presLayoutVars>
          <dgm:chMax val="1"/>
          <dgm:chPref val="1"/>
        </dgm:presLayoutVars>
      </dgm:prSet>
      <dgm:spPr/>
    </dgm:pt>
    <dgm:pt modelId="{79436145-D381-4FE1-B81E-F0C2A33891C6}" type="pres">
      <dgm:prSet presAssocID="{F7739906-757F-4CCF-8F61-82F357B59BA5}" presName="sibTrans" presStyleCnt="0"/>
      <dgm:spPr/>
    </dgm:pt>
    <dgm:pt modelId="{9496BC5C-03BE-4D17-B085-40477C407056}" type="pres">
      <dgm:prSet presAssocID="{73B153B7-0569-4AD2-87B0-471EBBEBDD07}" presName="compNode" presStyleCnt="0"/>
      <dgm:spPr/>
    </dgm:pt>
    <dgm:pt modelId="{5A834C35-C76F-41DC-BB76-D694DDA00E88}" type="pres">
      <dgm:prSet presAssocID="{73B153B7-0569-4AD2-87B0-471EBBEBDD0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9B076CCF-96A8-45C3-9F04-D721D0162024}" type="pres">
      <dgm:prSet presAssocID="{73B153B7-0569-4AD2-87B0-471EBBEBDD07}" presName="spaceRect" presStyleCnt="0"/>
      <dgm:spPr/>
    </dgm:pt>
    <dgm:pt modelId="{246C7A07-196D-48AD-A843-AF33F48152CF}" type="pres">
      <dgm:prSet presAssocID="{73B153B7-0569-4AD2-87B0-471EBBEBDD0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8DA521A-A05D-48BF-BFCC-2275BFBC879C}" type="presOf" srcId="{B4FE80D8-C900-476B-8399-0DF31F8DC1FA}" destId="{0B856193-B11B-40BF-974A-7BC69B063295}" srcOrd="0" destOrd="0" presId="urn:microsoft.com/office/officeart/2018/2/layout/IconLabelList"/>
    <dgm:cxn modelId="{5261241F-D179-4B0A-9944-9D818EE8AB70}" type="presOf" srcId="{0644F3A5-ACFA-496C-9FFA-DAFFD28CD9BC}" destId="{B198B744-D124-4CAE-9E23-A0864F337908}" srcOrd="0" destOrd="0" presId="urn:microsoft.com/office/officeart/2018/2/layout/IconLabelList"/>
    <dgm:cxn modelId="{E7F6983E-701A-4F8C-BAA7-DD01ADF8386D}" type="presOf" srcId="{1DD3769C-BA8E-4DAC-BFFC-0A21737509C4}" destId="{D2115BA8-9F75-4603-A83C-C27FC574DDA6}" srcOrd="0" destOrd="0" presId="urn:microsoft.com/office/officeart/2018/2/layout/IconLabelList"/>
    <dgm:cxn modelId="{8EEAAC6A-8B4E-4C26-8849-42A0E7E7A974}" type="presOf" srcId="{73B153B7-0569-4AD2-87B0-471EBBEBDD07}" destId="{246C7A07-196D-48AD-A843-AF33F48152CF}" srcOrd="0" destOrd="0" presId="urn:microsoft.com/office/officeart/2018/2/layout/IconLabelList"/>
    <dgm:cxn modelId="{91019A6E-CC23-4AD9-8705-92F9D2B9B4CB}" srcId="{744570E7-467D-4C16-9BC2-B9EC7A438AAD}" destId="{B4FE80D8-C900-476B-8399-0DF31F8DC1FA}" srcOrd="1" destOrd="0" parTransId="{6DC77D73-E0C8-4635-AED7-083CC450F585}" sibTransId="{EEFEFBAA-400F-4792-9EE0-B2F6F52230B7}"/>
    <dgm:cxn modelId="{BFAAC754-FE4D-4569-9DCB-12C27B0D46C7}" srcId="{744570E7-467D-4C16-9BC2-B9EC7A438AAD}" destId="{F09880AB-6B41-4D5E-AFD6-1B45C7518E3E}" srcOrd="3" destOrd="0" parTransId="{C1F0D779-3DE5-4562-8445-F6ABC70F7137}" sibTransId="{F7739906-757F-4CCF-8F61-82F357B59BA5}"/>
    <dgm:cxn modelId="{0DCCA08A-9466-4860-94AC-275E53D94860}" srcId="{744570E7-467D-4C16-9BC2-B9EC7A438AAD}" destId="{0644F3A5-ACFA-496C-9FFA-DAFFD28CD9BC}" srcOrd="0" destOrd="0" parTransId="{7295CC83-D0CE-4EE7-B428-B4E50D4885E5}" sibTransId="{30915ABE-648D-43FE-8F44-A5405699D427}"/>
    <dgm:cxn modelId="{6F83C38B-CC9A-432F-83B6-30C56245269B}" type="presOf" srcId="{744570E7-467D-4C16-9BC2-B9EC7A438AAD}" destId="{1D22BF11-CEB0-4AC2-A3B3-AF3913367CE4}" srcOrd="0" destOrd="0" presId="urn:microsoft.com/office/officeart/2018/2/layout/IconLabelList"/>
    <dgm:cxn modelId="{25D7B190-9769-4D4F-A0ED-E77FB7A2554E}" srcId="{744570E7-467D-4C16-9BC2-B9EC7A438AAD}" destId="{1DD3769C-BA8E-4DAC-BFFC-0A21737509C4}" srcOrd="2" destOrd="0" parTransId="{0426BF80-10CE-4EB0-8641-F1D89A5D8DFF}" sibTransId="{8A5DB46F-CB1F-4C40-B468-1D74590268D9}"/>
    <dgm:cxn modelId="{5D9601B0-FCCC-4369-ABAC-906EAE595234}" type="presOf" srcId="{F09880AB-6B41-4D5E-AFD6-1B45C7518E3E}" destId="{30723503-F168-433A-8D9B-72B7F46B9739}" srcOrd="0" destOrd="0" presId="urn:microsoft.com/office/officeart/2018/2/layout/IconLabelList"/>
    <dgm:cxn modelId="{D0D48CF3-A8C6-4EA0-9BFD-A03F46163982}" srcId="{744570E7-467D-4C16-9BC2-B9EC7A438AAD}" destId="{73B153B7-0569-4AD2-87B0-471EBBEBDD07}" srcOrd="4" destOrd="0" parTransId="{2AED3C8E-5E01-4EFE-BC02-3483573C4E8C}" sibTransId="{30C82237-60E9-4E05-9EC3-0502B3608A07}"/>
    <dgm:cxn modelId="{6F297782-81BB-402B-BDC3-1F173474EF85}" type="presParOf" srcId="{1D22BF11-CEB0-4AC2-A3B3-AF3913367CE4}" destId="{B80D37B1-65EA-44A5-8C2D-1542130E3DDF}" srcOrd="0" destOrd="0" presId="urn:microsoft.com/office/officeart/2018/2/layout/IconLabelList"/>
    <dgm:cxn modelId="{6B42962F-B096-4372-827E-E766A5DE86E6}" type="presParOf" srcId="{B80D37B1-65EA-44A5-8C2D-1542130E3DDF}" destId="{3E79E62A-C6E3-405C-B323-C3129F72E89E}" srcOrd="0" destOrd="0" presId="urn:microsoft.com/office/officeart/2018/2/layout/IconLabelList"/>
    <dgm:cxn modelId="{89219A92-8956-45BF-8DC8-07AE5FB6DA44}" type="presParOf" srcId="{B80D37B1-65EA-44A5-8C2D-1542130E3DDF}" destId="{43D6D4D0-7445-40AC-A629-1109CD69C543}" srcOrd="1" destOrd="0" presId="urn:microsoft.com/office/officeart/2018/2/layout/IconLabelList"/>
    <dgm:cxn modelId="{98EE506D-9514-425F-8F66-24C4C87344E0}" type="presParOf" srcId="{B80D37B1-65EA-44A5-8C2D-1542130E3DDF}" destId="{B198B744-D124-4CAE-9E23-A0864F337908}" srcOrd="2" destOrd="0" presId="urn:microsoft.com/office/officeart/2018/2/layout/IconLabelList"/>
    <dgm:cxn modelId="{4A08EE44-58EB-486C-96D1-B5D17B889AE5}" type="presParOf" srcId="{1D22BF11-CEB0-4AC2-A3B3-AF3913367CE4}" destId="{FD2103A7-EDAB-4BEF-8758-D873B9E75A68}" srcOrd="1" destOrd="0" presId="urn:microsoft.com/office/officeart/2018/2/layout/IconLabelList"/>
    <dgm:cxn modelId="{468CE553-A054-4782-AC35-2FB4B8E4D636}" type="presParOf" srcId="{1D22BF11-CEB0-4AC2-A3B3-AF3913367CE4}" destId="{EA1E4A3C-A677-42C7-AA67-A9782ADBCC88}" srcOrd="2" destOrd="0" presId="urn:microsoft.com/office/officeart/2018/2/layout/IconLabelList"/>
    <dgm:cxn modelId="{F40C7102-D6EC-4887-B860-F3A11140443D}" type="presParOf" srcId="{EA1E4A3C-A677-42C7-AA67-A9782ADBCC88}" destId="{B1B23B8D-74EA-4150-8633-539FDA6CC077}" srcOrd="0" destOrd="0" presId="urn:microsoft.com/office/officeart/2018/2/layout/IconLabelList"/>
    <dgm:cxn modelId="{341BF66D-6315-4181-8910-43A5EDF72C70}" type="presParOf" srcId="{EA1E4A3C-A677-42C7-AA67-A9782ADBCC88}" destId="{6308DE26-2F80-4EF6-9A0D-DD7ADB78B650}" srcOrd="1" destOrd="0" presId="urn:microsoft.com/office/officeart/2018/2/layout/IconLabelList"/>
    <dgm:cxn modelId="{88BD00EF-6B23-4B79-A291-6FD7A5DD2432}" type="presParOf" srcId="{EA1E4A3C-A677-42C7-AA67-A9782ADBCC88}" destId="{0B856193-B11B-40BF-974A-7BC69B063295}" srcOrd="2" destOrd="0" presId="urn:microsoft.com/office/officeart/2018/2/layout/IconLabelList"/>
    <dgm:cxn modelId="{66D10EA5-9896-4628-A5D3-295725A7F258}" type="presParOf" srcId="{1D22BF11-CEB0-4AC2-A3B3-AF3913367CE4}" destId="{ABCA702E-FB81-4187-8063-8653AE37898B}" srcOrd="3" destOrd="0" presId="urn:microsoft.com/office/officeart/2018/2/layout/IconLabelList"/>
    <dgm:cxn modelId="{522A229F-F75C-4986-B228-F38FB13FA5E0}" type="presParOf" srcId="{1D22BF11-CEB0-4AC2-A3B3-AF3913367CE4}" destId="{609AD722-6903-4143-ACEB-02EAA9D42C24}" srcOrd="4" destOrd="0" presId="urn:microsoft.com/office/officeart/2018/2/layout/IconLabelList"/>
    <dgm:cxn modelId="{06AB216D-917C-4A46-ABDF-55745796B098}" type="presParOf" srcId="{609AD722-6903-4143-ACEB-02EAA9D42C24}" destId="{D70488AB-7A8A-4D3C-8A7A-B9C9A6FEAA8D}" srcOrd="0" destOrd="0" presId="urn:microsoft.com/office/officeart/2018/2/layout/IconLabelList"/>
    <dgm:cxn modelId="{04FDA63B-586B-41D0-AAAD-5FFE246979AA}" type="presParOf" srcId="{609AD722-6903-4143-ACEB-02EAA9D42C24}" destId="{0F12B0A6-5157-488A-81A0-E3046E0B4C1A}" srcOrd="1" destOrd="0" presId="urn:microsoft.com/office/officeart/2018/2/layout/IconLabelList"/>
    <dgm:cxn modelId="{E37A6A64-99AF-4896-AA49-69A2239E9A7D}" type="presParOf" srcId="{609AD722-6903-4143-ACEB-02EAA9D42C24}" destId="{D2115BA8-9F75-4603-A83C-C27FC574DDA6}" srcOrd="2" destOrd="0" presId="urn:microsoft.com/office/officeart/2018/2/layout/IconLabelList"/>
    <dgm:cxn modelId="{251A62A1-F4E3-48F7-951E-68CE4E76C937}" type="presParOf" srcId="{1D22BF11-CEB0-4AC2-A3B3-AF3913367CE4}" destId="{03B5F90B-AFD4-40A8-A0C2-7066B72EA3FE}" srcOrd="5" destOrd="0" presId="urn:microsoft.com/office/officeart/2018/2/layout/IconLabelList"/>
    <dgm:cxn modelId="{0A03DB5A-6A62-49C1-A478-182B14489656}" type="presParOf" srcId="{1D22BF11-CEB0-4AC2-A3B3-AF3913367CE4}" destId="{5055D08F-4AAA-4404-AAAF-DEE444304C00}" srcOrd="6" destOrd="0" presId="urn:microsoft.com/office/officeart/2018/2/layout/IconLabelList"/>
    <dgm:cxn modelId="{E4869F22-2969-4E24-8A43-49BFF145E3BC}" type="presParOf" srcId="{5055D08F-4AAA-4404-AAAF-DEE444304C00}" destId="{10F9B032-0667-444A-A803-8CC86F5A6A6D}" srcOrd="0" destOrd="0" presId="urn:microsoft.com/office/officeart/2018/2/layout/IconLabelList"/>
    <dgm:cxn modelId="{0C68CEFA-00AB-48EE-B963-DC0494044ECB}" type="presParOf" srcId="{5055D08F-4AAA-4404-AAAF-DEE444304C00}" destId="{2721F5DC-A3E2-4B9D-969D-F190A80295FD}" srcOrd="1" destOrd="0" presId="urn:microsoft.com/office/officeart/2018/2/layout/IconLabelList"/>
    <dgm:cxn modelId="{B3A8B505-3A45-4BC1-911D-96761F7D74A2}" type="presParOf" srcId="{5055D08F-4AAA-4404-AAAF-DEE444304C00}" destId="{30723503-F168-433A-8D9B-72B7F46B9739}" srcOrd="2" destOrd="0" presId="urn:microsoft.com/office/officeart/2018/2/layout/IconLabelList"/>
    <dgm:cxn modelId="{CEA8DF33-4AF7-4618-8834-EE20AE808E2E}" type="presParOf" srcId="{1D22BF11-CEB0-4AC2-A3B3-AF3913367CE4}" destId="{79436145-D381-4FE1-B81E-F0C2A33891C6}" srcOrd="7" destOrd="0" presId="urn:microsoft.com/office/officeart/2018/2/layout/IconLabelList"/>
    <dgm:cxn modelId="{4FBAD6CA-B737-42E6-A6D4-3584DA35302D}" type="presParOf" srcId="{1D22BF11-CEB0-4AC2-A3B3-AF3913367CE4}" destId="{9496BC5C-03BE-4D17-B085-40477C407056}" srcOrd="8" destOrd="0" presId="urn:microsoft.com/office/officeart/2018/2/layout/IconLabelList"/>
    <dgm:cxn modelId="{174332DC-0BF6-4682-B234-5ED53FF214A5}" type="presParOf" srcId="{9496BC5C-03BE-4D17-B085-40477C407056}" destId="{5A834C35-C76F-41DC-BB76-D694DDA00E88}" srcOrd="0" destOrd="0" presId="urn:microsoft.com/office/officeart/2018/2/layout/IconLabelList"/>
    <dgm:cxn modelId="{BBD2A08B-B7EB-475B-A61D-474D23B400D3}" type="presParOf" srcId="{9496BC5C-03BE-4D17-B085-40477C407056}" destId="{9B076CCF-96A8-45C3-9F04-D721D0162024}" srcOrd="1" destOrd="0" presId="urn:microsoft.com/office/officeart/2018/2/layout/IconLabelList"/>
    <dgm:cxn modelId="{E35364AE-F78C-4128-B447-969BEF370A78}" type="presParOf" srcId="{9496BC5C-03BE-4D17-B085-40477C407056}" destId="{246C7A07-196D-48AD-A843-AF33F48152C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C8F4C-F233-4106-80C4-8CA4FD4C57C8}">
      <dsp:nvSpPr>
        <dsp:cNvPr id="0" name=""/>
        <dsp:cNvSpPr/>
      </dsp:nvSpPr>
      <dsp:spPr>
        <a:xfrm>
          <a:off x="630800" y="831675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F65D3-84C6-4DEB-9274-81CFC118996B}">
      <dsp:nvSpPr>
        <dsp:cNvPr id="0" name=""/>
        <dsp:cNvSpPr/>
      </dsp:nvSpPr>
      <dsp:spPr>
        <a:xfrm>
          <a:off x="135800" y="19944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Identify sectors and countries receiving the most funding </a:t>
          </a:r>
        </a:p>
      </dsp:txBody>
      <dsp:txXfrm>
        <a:off x="135800" y="1994404"/>
        <a:ext cx="1800000" cy="720000"/>
      </dsp:txXfrm>
    </dsp:sp>
    <dsp:sp modelId="{EA49FE6F-EC78-4630-AABD-3BC724B504C5}">
      <dsp:nvSpPr>
        <dsp:cNvPr id="0" name=""/>
        <dsp:cNvSpPr/>
      </dsp:nvSpPr>
      <dsp:spPr>
        <a:xfrm>
          <a:off x="2745800" y="831675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D502D-D2DF-4682-8A49-88B174076A1B}">
      <dsp:nvSpPr>
        <dsp:cNvPr id="0" name=""/>
        <dsp:cNvSpPr/>
      </dsp:nvSpPr>
      <dsp:spPr>
        <a:xfrm>
          <a:off x="2250800" y="19944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Analyze the relationship between lender count and funded amount </a:t>
          </a:r>
        </a:p>
      </dsp:txBody>
      <dsp:txXfrm>
        <a:off x="2250800" y="1994404"/>
        <a:ext cx="1800000" cy="720000"/>
      </dsp:txXfrm>
    </dsp:sp>
    <dsp:sp modelId="{853CDA29-3D39-4325-80A5-AA640AD8C33C}">
      <dsp:nvSpPr>
        <dsp:cNvPr id="0" name=""/>
        <dsp:cNvSpPr/>
      </dsp:nvSpPr>
      <dsp:spPr>
        <a:xfrm>
          <a:off x="4860800" y="831675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BB2AB-679C-4768-835E-31B4D8EAFC7D}">
      <dsp:nvSpPr>
        <dsp:cNvPr id="0" name=""/>
        <dsp:cNvSpPr/>
      </dsp:nvSpPr>
      <dsp:spPr>
        <a:xfrm>
          <a:off x="4365800" y="19944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Predict funded loan amounts using machine learning </a:t>
          </a:r>
        </a:p>
      </dsp:txBody>
      <dsp:txXfrm>
        <a:off x="4365800" y="1994404"/>
        <a:ext cx="1800000" cy="720000"/>
      </dsp:txXfrm>
    </dsp:sp>
    <dsp:sp modelId="{EC965ADD-2651-418E-BBB0-F118C55ACBA1}">
      <dsp:nvSpPr>
        <dsp:cNvPr id="0" name=""/>
        <dsp:cNvSpPr/>
      </dsp:nvSpPr>
      <dsp:spPr>
        <a:xfrm>
          <a:off x="1688300" y="3164404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0A8C69-3448-4FD6-BC50-253BF63DF4F0}">
      <dsp:nvSpPr>
        <dsp:cNvPr id="0" name=""/>
        <dsp:cNvSpPr/>
      </dsp:nvSpPr>
      <dsp:spPr>
        <a:xfrm>
          <a:off x="1193300" y="432713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Visualize trends and key metrics using Power BI </a:t>
          </a:r>
        </a:p>
      </dsp:txBody>
      <dsp:txXfrm>
        <a:off x="1193300" y="4327133"/>
        <a:ext cx="1800000" cy="720000"/>
      </dsp:txXfrm>
    </dsp:sp>
    <dsp:sp modelId="{6F9C7C3B-A6A4-408B-A2C3-CF30A4B665E5}">
      <dsp:nvSpPr>
        <dsp:cNvPr id="0" name=""/>
        <dsp:cNvSpPr/>
      </dsp:nvSpPr>
      <dsp:spPr>
        <a:xfrm>
          <a:off x="3803300" y="3164404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E20AB-A0D8-4504-AD76-C617A04E62D0}">
      <dsp:nvSpPr>
        <dsp:cNvPr id="0" name=""/>
        <dsp:cNvSpPr/>
      </dsp:nvSpPr>
      <dsp:spPr>
        <a:xfrm>
          <a:off x="3308300" y="432713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Forecast future loan trends using ARIMA time series model</a:t>
          </a:r>
        </a:p>
      </dsp:txBody>
      <dsp:txXfrm>
        <a:off x="3308300" y="4327133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5B5EC-52D0-495A-9F06-A76FC342D963}">
      <dsp:nvSpPr>
        <dsp:cNvPr id="0" name=""/>
        <dsp:cNvSpPr/>
      </dsp:nvSpPr>
      <dsp:spPr>
        <a:xfrm>
          <a:off x="1138979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AAD73-D7C5-41FB-A9DE-7D4E154ED34F}">
      <dsp:nvSpPr>
        <dsp:cNvPr id="0" name=""/>
        <dsp:cNvSpPr/>
      </dsp:nvSpPr>
      <dsp:spPr>
        <a:xfrm>
          <a:off x="569079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Loaded data using Python (pandas)</a:t>
          </a:r>
        </a:p>
      </dsp:txBody>
      <dsp:txXfrm>
        <a:off x="569079" y="2427788"/>
        <a:ext cx="2072362" cy="720000"/>
      </dsp:txXfrm>
    </dsp:sp>
    <dsp:sp modelId="{7C4A0F99-2CD6-48B0-87CE-70ADE23E50E3}">
      <dsp:nvSpPr>
        <dsp:cNvPr id="0" name=""/>
        <dsp:cNvSpPr/>
      </dsp:nvSpPr>
      <dsp:spPr>
        <a:xfrm>
          <a:off x="3574005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B8C24-A8E6-46B4-83E1-5E4E8AB518C7}">
      <dsp:nvSpPr>
        <dsp:cNvPr id="0" name=""/>
        <dsp:cNvSpPr/>
      </dsp:nvSpPr>
      <dsp:spPr>
        <a:xfrm>
          <a:off x="3004105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Checked structure: data types, null values</a:t>
          </a:r>
        </a:p>
      </dsp:txBody>
      <dsp:txXfrm>
        <a:off x="3004105" y="2427788"/>
        <a:ext cx="2072362" cy="720000"/>
      </dsp:txXfrm>
    </dsp:sp>
    <dsp:sp modelId="{BE224D99-6B65-411C-AD3B-BC9650B22932}">
      <dsp:nvSpPr>
        <dsp:cNvPr id="0" name=""/>
        <dsp:cNvSpPr/>
      </dsp:nvSpPr>
      <dsp:spPr>
        <a:xfrm>
          <a:off x="6009031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0E3E9-4218-4836-8EB9-D991F463EC2D}">
      <dsp:nvSpPr>
        <dsp:cNvPr id="0" name=""/>
        <dsp:cNvSpPr/>
      </dsp:nvSpPr>
      <dsp:spPr>
        <a:xfrm>
          <a:off x="5439131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Explored distributions of loan size, funding, and duration</a:t>
          </a:r>
        </a:p>
      </dsp:txBody>
      <dsp:txXfrm>
        <a:off x="5439131" y="2427788"/>
        <a:ext cx="2072362" cy="720000"/>
      </dsp:txXfrm>
    </dsp:sp>
    <dsp:sp modelId="{5CAF0FBA-0708-48E3-BE1A-A9D4CB4F7D53}">
      <dsp:nvSpPr>
        <dsp:cNvPr id="0" name=""/>
        <dsp:cNvSpPr/>
      </dsp:nvSpPr>
      <dsp:spPr>
        <a:xfrm>
          <a:off x="8444057" y="1203549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51AA66-6A57-4E7E-8D9F-A9A65B3937A1}">
      <dsp:nvSpPr>
        <dsp:cNvPr id="0" name=""/>
        <dsp:cNvSpPr/>
      </dsp:nvSpPr>
      <dsp:spPr>
        <a:xfrm>
          <a:off x="7874157" y="2427788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Identified early issues (missing values, inconsistent types)</a:t>
          </a:r>
        </a:p>
      </dsp:txBody>
      <dsp:txXfrm>
        <a:off x="7874157" y="2427788"/>
        <a:ext cx="207236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9E62A-C6E3-405C-B323-C3129F72E89E}">
      <dsp:nvSpPr>
        <dsp:cNvPr id="0" name=""/>
        <dsp:cNvSpPr/>
      </dsp:nvSpPr>
      <dsp:spPr>
        <a:xfrm>
          <a:off x="62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8B744-D124-4CAE-9E23-A0864F337908}">
      <dsp:nvSpPr>
        <dsp:cNvPr id="0" name=""/>
        <dsp:cNvSpPr/>
      </dsp:nvSpPr>
      <dsp:spPr>
        <a:xfrm>
          <a:off x="12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Transformed data into time series format based on date</a:t>
          </a:r>
        </a:p>
      </dsp:txBody>
      <dsp:txXfrm>
        <a:off x="127800" y="2355670"/>
        <a:ext cx="1800000" cy="720000"/>
      </dsp:txXfrm>
    </dsp:sp>
    <dsp:sp modelId="{B1B23B8D-74EA-4150-8633-539FDA6CC077}">
      <dsp:nvSpPr>
        <dsp:cNvPr id="0" name=""/>
        <dsp:cNvSpPr/>
      </dsp:nvSpPr>
      <dsp:spPr>
        <a:xfrm>
          <a:off x="273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856193-B11B-40BF-974A-7BC69B063295}">
      <dsp:nvSpPr>
        <dsp:cNvPr id="0" name=""/>
        <dsp:cNvSpPr/>
      </dsp:nvSpPr>
      <dsp:spPr>
        <a:xfrm>
          <a:off x="224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Resampled data annually for ARIMA forecasting</a:t>
          </a:r>
        </a:p>
      </dsp:txBody>
      <dsp:txXfrm>
        <a:off x="2242800" y="2355670"/>
        <a:ext cx="1800000" cy="720000"/>
      </dsp:txXfrm>
    </dsp:sp>
    <dsp:sp modelId="{D70488AB-7A8A-4D3C-8A7A-B9C9A6FEAA8D}">
      <dsp:nvSpPr>
        <dsp:cNvPr id="0" name=""/>
        <dsp:cNvSpPr/>
      </dsp:nvSpPr>
      <dsp:spPr>
        <a:xfrm>
          <a:off x="485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15BA8-9F75-4603-A83C-C27FC574DDA6}">
      <dsp:nvSpPr>
        <dsp:cNvPr id="0" name=""/>
        <dsp:cNvSpPr/>
      </dsp:nvSpPr>
      <dsp:spPr>
        <a:xfrm>
          <a:off x="435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Trained ARIMA(1,1,1) model to forecast loan amounts</a:t>
          </a:r>
        </a:p>
      </dsp:txBody>
      <dsp:txXfrm>
        <a:off x="4357800" y="2355670"/>
        <a:ext cx="1800000" cy="720000"/>
      </dsp:txXfrm>
    </dsp:sp>
    <dsp:sp modelId="{10F9B032-0667-444A-A803-8CC86F5A6A6D}">
      <dsp:nvSpPr>
        <dsp:cNvPr id="0" name=""/>
        <dsp:cNvSpPr/>
      </dsp:nvSpPr>
      <dsp:spPr>
        <a:xfrm>
          <a:off x="696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23503-F168-433A-8D9B-72B7F46B9739}">
      <dsp:nvSpPr>
        <dsp:cNvPr id="0" name=""/>
        <dsp:cNvSpPr/>
      </dsp:nvSpPr>
      <dsp:spPr>
        <a:xfrm>
          <a:off x="647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Results suggest a flat future trend due to limited time points</a:t>
          </a:r>
        </a:p>
      </dsp:txBody>
      <dsp:txXfrm>
        <a:off x="6472800" y="2355670"/>
        <a:ext cx="1800000" cy="720000"/>
      </dsp:txXfrm>
    </dsp:sp>
    <dsp:sp modelId="{5A834C35-C76F-41DC-BB76-D694DDA00E88}">
      <dsp:nvSpPr>
        <dsp:cNvPr id="0" name=""/>
        <dsp:cNvSpPr/>
      </dsp:nvSpPr>
      <dsp:spPr>
        <a:xfrm>
          <a:off x="908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C7A07-196D-48AD-A843-AF33F48152CF}">
      <dsp:nvSpPr>
        <dsp:cNvPr id="0" name=""/>
        <dsp:cNvSpPr/>
      </dsp:nvSpPr>
      <dsp:spPr>
        <a:xfrm>
          <a:off x="858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Sector-based trends show </a:t>
          </a:r>
          <a:r>
            <a:rPr lang="en-US" sz="1200" b="1" kern="1200" dirty="0"/>
            <a:t>Agriculture</a:t>
          </a:r>
          <a:r>
            <a:rPr lang="en-US" sz="1200" kern="1200" dirty="0"/>
            <a:t> and </a:t>
          </a:r>
          <a:r>
            <a:rPr lang="en-US" sz="1200" b="1" kern="1200" dirty="0"/>
            <a:t>Food</a:t>
          </a:r>
          <a:r>
            <a:rPr lang="en-US" sz="1200" kern="1200" dirty="0"/>
            <a:t> leading consistently</a:t>
          </a:r>
        </a:p>
      </dsp:txBody>
      <dsp:txXfrm>
        <a:off x="8587800" y="235567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0D27-BB70-5D06-849C-BFD8AB766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E38E3-1180-9BC4-B170-827B01DEE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20910-934F-F70F-CE58-7AA60B4BE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ED396-2232-B04F-78C5-5BF81283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CFF91-EBD5-B7D6-1642-329E69549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90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BC93-E388-AC49-827A-9CB7F520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118FC-2B8D-108D-16B3-3714633FF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7EDF3-C13C-0C93-E092-3D370AFB4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4C335-601C-16DF-9AC1-92754355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63C26-2F2C-C2E4-8A87-A908CB07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FC99-E590-4FC2-601C-C54EAD9CF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B26BB-49E6-43DA-0326-6D64F5E97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FC19F-EB54-0CD8-A925-523FEA21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5E10B-9237-4316-93C8-294DD88B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FF45E-D8C1-6B46-FD9D-75DC57BB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7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FE1B-B00F-F597-904C-4B53333D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96693-E7AB-592D-7792-9513150885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35FFE-B781-CAE9-83BD-37B59B0F1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0CE57-E6B4-515A-7D3F-1624FD56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E8F12-B693-0F2F-C6EB-ED4F4205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8A903-88B2-E4DC-42AB-08DBC02E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9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5C51-B59A-570F-A446-4A6FE2DC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B1C29-B1A3-E678-C7D8-74BA00BF5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80D7B-C860-1B0C-3A7D-3EB086BC3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E87C8-3E14-24D4-05C4-5B8C2DD5D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2C2E7-8222-6849-B888-8E356CCD29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59607B-B038-BBC5-F169-99557986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C22D1F-3C05-44A4-DB20-0A00076E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CB434-0BA7-7F10-9475-BB588B8A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0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5890-7476-5700-CDF8-071D7C0BD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FBCE3-0D1B-F5A3-3D06-93FD49D1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3F98E-A40C-A83F-CAE4-1DCBBDCB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4D789-202E-F041-AD88-CBC031581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25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5B046-B616-C1A4-3213-0E232BF47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8B5C3-87BB-794F-361A-96AD31CE8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7E474-347C-DF02-AFC3-1BEFD19D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5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1A8B-04F2-0346-C60D-F0BCE07F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19963-5C65-03B6-4C2B-FF5529313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07832-952E-C89A-6716-D4CF4B28C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C0E7F-4900-C213-E7F0-331019F19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E37FB-EF6B-03CF-9D54-C578DC0D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96A26-C0C0-7F8A-89CB-A4625CC19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3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53A83-58E2-9904-7893-4E795B91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9BA94-D3D1-7909-66C6-66F0F1537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43096-4AB5-E17A-37E0-E42743FA9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AD51D-3277-B138-2FE8-ADFE9282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C381F-785A-AA13-B8DE-33DF7CE5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0A953-3B12-DB00-9D96-471E0726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0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B184-D430-0B04-593A-FCD2D7015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34D07-5456-307A-E232-5BD415E79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745D6-89EC-28CC-DBB0-C86584CAB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2D921-AF27-5E65-ACDF-76D29FE6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13DE-CD46-70BD-7D5A-31196708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9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30AEA9-F849-83F1-1BC6-6154E7CB6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C7BB7-344A-C588-5A1B-425B59149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AC6B2-191F-9B6D-BA2C-C2061C94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F02E2-AFEE-BCC2-9567-C07B9A6D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3B70C-CB56-E046-9384-F90A3235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41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0CF3-6258-5D82-C82F-DAE2C148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7FDBB-1335-FBCD-5D40-B038823BB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1B7D3-9981-1894-FC0D-974D1628B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40C70-661A-7919-CB00-360FF2BC6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5C67-6494-9BCA-6DC0-6E5D9A44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5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9ED8BC-3124-6320-8CCD-30FE2283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224D1-B2F5-AD91-CE94-4F82C9620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EE8AD-9F6A-0AC7-62EE-0CFC5F6CE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3FC45-84FE-4E05-B63A-CF7F3E639921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E05CF-6CD2-75AD-C5A5-444BA2472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9ED0B-1ABE-BA3A-3A7C-12AA47D36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1F84B-106D-43C2-AE36-60E4E5B74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90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38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6678D-868A-C7CF-72B7-25829476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836" y="1982684"/>
            <a:ext cx="3553510" cy="28926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KIVA Loans</a:t>
            </a:r>
            <a:b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Business Intelligence</a:t>
            </a:r>
          </a:p>
        </p:txBody>
      </p:sp>
      <p:grpSp>
        <p:nvGrpSpPr>
          <p:cNvPr id="384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8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03" name="Oval 402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D65AB-549D-F35F-DF22-9A8E31CF6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83911" y="4597393"/>
            <a:ext cx="5217173" cy="2498236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600" dirty="0">
                <a:solidFill>
                  <a:schemeClr val="bg1"/>
                </a:solidFill>
              </a:rPr>
              <a:t>Members:</a:t>
            </a:r>
          </a:p>
          <a:p>
            <a:r>
              <a:rPr lang="en-US" sz="1600" dirty="0">
                <a:solidFill>
                  <a:schemeClr val="bg1"/>
                </a:solidFill>
              </a:rPr>
              <a:t>2021170677 </a:t>
            </a:r>
            <a:r>
              <a:rPr lang="ar-AE" sz="1600" dirty="0">
                <a:solidFill>
                  <a:schemeClr val="bg1"/>
                </a:solidFill>
              </a:rPr>
              <a:t>كريم كليموه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2022170664 زينب صالحي عبدالله </a:t>
            </a:r>
          </a:p>
          <a:p>
            <a:r>
              <a:rPr lang="en-US" sz="1600" dirty="0">
                <a:solidFill>
                  <a:schemeClr val="bg1"/>
                </a:solidFill>
              </a:rPr>
              <a:t>2022170671 نفيسة بشير دانغوغوا  </a:t>
            </a:r>
          </a:p>
          <a:p>
            <a:r>
              <a:rPr lang="ar-AE" sz="1600" dirty="0">
                <a:solidFill>
                  <a:schemeClr val="bg1"/>
                </a:solidFill>
              </a:rPr>
              <a:t>2022170096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ar-AE" sz="1600" dirty="0">
                <a:solidFill>
                  <a:schemeClr val="bg1"/>
                </a:solidFill>
              </a:rPr>
              <a:t>بسنت احمد محمد احمد </a:t>
            </a:r>
          </a:p>
          <a:p>
            <a:r>
              <a:rPr lang="ar-AE" sz="1600" dirty="0">
                <a:solidFill>
                  <a:schemeClr val="bg1"/>
                </a:solidFill>
              </a:rPr>
              <a:t>2018170128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ar-AE" sz="1600" dirty="0">
                <a:solidFill>
                  <a:schemeClr val="bg1"/>
                </a:solidFill>
              </a:rPr>
              <a:t>تالا محمد سامر عطايا 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8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9D4BF-1487-248B-0668-386151AC6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grpSp>
        <p:nvGrpSpPr>
          <p:cNvPr id="27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D9335-01AE-C397-1E6F-F7ECD1517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6444" y="1442345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Project Overview  </a:t>
            </a:r>
          </a:p>
          <a:p>
            <a:r>
              <a:rPr lang="en-US" sz="2600" dirty="0">
                <a:solidFill>
                  <a:schemeClr val="bg1"/>
                </a:solidFill>
              </a:rPr>
              <a:t> Objectives  </a:t>
            </a:r>
          </a:p>
          <a:p>
            <a:r>
              <a:rPr lang="en-US" sz="2600" dirty="0">
                <a:solidFill>
                  <a:schemeClr val="bg1"/>
                </a:solidFill>
              </a:rPr>
              <a:t> Dataset Description  </a:t>
            </a:r>
          </a:p>
          <a:p>
            <a:r>
              <a:rPr lang="en-US" sz="2600" dirty="0">
                <a:solidFill>
                  <a:schemeClr val="bg1"/>
                </a:solidFill>
              </a:rPr>
              <a:t> Data Cleaning &amp; Transformation  </a:t>
            </a:r>
          </a:p>
          <a:p>
            <a:r>
              <a:rPr lang="en-US" sz="2600" dirty="0">
                <a:solidFill>
                  <a:schemeClr val="bg1"/>
                </a:solidFill>
              </a:rPr>
              <a:t> Exploratory Data Analysis (EDA)  </a:t>
            </a:r>
          </a:p>
          <a:p>
            <a:r>
              <a:rPr lang="en-US" sz="2600" dirty="0">
                <a:solidFill>
                  <a:schemeClr val="bg1"/>
                </a:solidFill>
              </a:rPr>
              <a:t> Machine Learning Model  </a:t>
            </a:r>
          </a:p>
          <a:p>
            <a:r>
              <a:rPr lang="en-US" sz="2600" dirty="0">
                <a:solidFill>
                  <a:schemeClr val="bg1"/>
                </a:solidFill>
              </a:rPr>
              <a:t> Power BI Reports  </a:t>
            </a:r>
          </a:p>
          <a:p>
            <a:r>
              <a:rPr lang="en-US" sz="2600" dirty="0">
                <a:solidFill>
                  <a:schemeClr val="bg1"/>
                </a:solidFill>
              </a:rPr>
              <a:t> Time Series Forecasting  </a:t>
            </a:r>
          </a:p>
          <a:p>
            <a:r>
              <a:rPr lang="en-US" sz="2600" dirty="0">
                <a:solidFill>
                  <a:schemeClr val="bg1"/>
                </a:solidFill>
              </a:rPr>
              <a:t> Key Insights &amp; Conclusion ,  </a:t>
            </a:r>
          </a:p>
        </p:txBody>
      </p:sp>
    </p:spTree>
    <p:extLst>
      <p:ext uri="{BB962C8B-B14F-4D97-AF65-F5344CB8AC3E}">
        <p14:creationId xmlns:p14="http://schemas.microsoft.com/office/powerpoint/2010/main" val="379677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Graphic 212">
            <a:extLst>
              <a:ext uri="{FF2B5EF4-FFF2-40B4-BE49-F238E27FC236}">
                <a16:creationId xmlns:a16="http://schemas.microsoft.com/office/drawing/2014/main" id="{55C61911-45B2-48BF-AC7A-1EB579B42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2" name="Graphic 212">
            <a:extLst>
              <a:ext uri="{FF2B5EF4-FFF2-40B4-BE49-F238E27FC236}">
                <a16:creationId xmlns:a16="http://schemas.microsoft.com/office/drawing/2014/main" id="{2DE4D4CE-6DAE-4A05-BE5B-6BCE3F4E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707CD-5C06-B457-D735-A09EA183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7" y="1264801"/>
            <a:ext cx="4114571" cy="42963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8CB1D39-68D4-4372-BF3B-2A33A7495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8" name="Oval 87">
            <a:extLst>
              <a:ext uri="{FF2B5EF4-FFF2-40B4-BE49-F238E27FC236}">
                <a16:creationId xmlns:a16="http://schemas.microsoft.com/office/drawing/2014/main" id="{10C23D31-5B0A-4956-A59F-A24F57D2A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4C6FC6E-4AAF-4628-B7E5-85DF9D32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58117-B564-93CC-3089-9599F55C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4868" y="1345827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This project analyzes Kiva’s loan data to </a:t>
            </a:r>
            <a:r>
              <a:rPr lang="en-US" b="1">
                <a:solidFill>
                  <a:schemeClr val="bg1"/>
                </a:solidFill>
              </a:rPr>
              <a:t>uncover funding trends, build a predictive model for funded amounts, and visualize key insights using Power BI.</a:t>
            </a:r>
            <a:r>
              <a:rPr lang="en-US">
                <a:solidFill>
                  <a:schemeClr val="bg1"/>
                </a:solidFill>
              </a:rPr>
              <a:t> A Random Forest model achieved high accuracy, and time series forecasting was initiated to predict future trends.</a:t>
            </a:r>
          </a:p>
        </p:txBody>
      </p:sp>
      <p:grpSp>
        <p:nvGrpSpPr>
          <p:cNvPr id="9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402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7FFCD-8C8E-E63B-17AD-9B0736285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D238AA2-6C33-E6A0-67DF-00A9C16532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097010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329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0B882-BAA2-0A71-7887-B9BEF09A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9D05-C99C-5F27-D69E-C040C407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 Description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796C9-ACE4-414E-0BFD-646093086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1145" y="1606899"/>
            <a:ext cx="10272667" cy="51390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Source: Kiva loan data (CSV file) </a:t>
            </a:r>
          </a:p>
          <a:p>
            <a:r>
              <a:rPr lang="en-US">
                <a:solidFill>
                  <a:srgbClr val="000000"/>
                </a:solidFill>
              </a:rPr>
              <a:t>Total Records: ~33,561 </a:t>
            </a:r>
          </a:p>
          <a:p>
            <a:r>
              <a:rPr lang="en-US">
                <a:solidFill>
                  <a:srgbClr val="000000"/>
                </a:solidFill>
              </a:rPr>
              <a:t>Key columns: </a:t>
            </a: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767705-84EE-F3FD-23FA-4119A95D8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724442"/>
              </p:ext>
            </p:extLst>
          </p:nvPr>
        </p:nvGraphicFramePr>
        <p:xfrm>
          <a:off x="3607242" y="3201035"/>
          <a:ext cx="49604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236">
                  <a:extLst>
                    <a:ext uri="{9D8B030D-6E8A-4147-A177-3AD203B41FA5}">
                      <a16:colId xmlns:a16="http://schemas.microsoft.com/office/drawing/2014/main" val="432965132"/>
                    </a:ext>
                  </a:extLst>
                </a:gridCol>
                <a:gridCol w="2480236">
                  <a:extLst>
                    <a:ext uri="{9D8B030D-6E8A-4147-A177-3AD203B41FA5}">
                      <a16:colId xmlns:a16="http://schemas.microsoft.com/office/drawing/2014/main" val="1037529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670304"/>
                  </a:ext>
                </a:extLst>
              </a:tr>
              <a:tr h="257424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loan_amount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702381"/>
                  </a:ext>
                </a:extLst>
              </a:tr>
              <a:tr h="257424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funded_amount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34136"/>
                  </a:ext>
                </a:extLst>
              </a:tr>
              <a:tr h="257424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sector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449978"/>
                  </a:ext>
                </a:extLst>
              </a:tr>
              <a:tr h="257424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country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656242"/>
                  </a:ext>
                </a:extLst>
              </a:tr>
              <a:tr h="257424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term_in_months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59704"/>
                  </a:ext>
                </a:extLst>
              </a:tr>
              <a:tr h="257424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lender_count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199407"/>
                  </a:ext>
                </a:extLst>
              </a:tr>
              <a:tr h="257424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rgbClr val="000000"/>
                          </a:solidFill>
                        </a:rPr>
                        <a:t>borrower_genders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278028"/>
                  </a:ext>
                </a:extLst>
              </a:tr>
              <a:tr h="257424">
                <a:tc>
                  <a:txBody>
                    <a:bodyPr/>
                    <a:lstStyle/>
                    <a:p>
                      <a:r>
                        <a:rPr lang="en-US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909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118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14F8-4F28-C0CB-D7E8-843347E3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Loading &amp; Initial Exploration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0884D2B-0658-CE79-3D51-5840CB8C1E12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272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DB7F-75CD-5BD3-8286-FED271A4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 and Data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AB2FF-5A06-165D-CCF1-C1D0CC652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partner_id</a:t>
            </a:r>
            <a:r>
              <a:rPr lang="en-US" dirty="0"/>
              <a:t>: Filled missing values with -1</a:t>
            </a:r>
          </a:p>
          <a:p>
            <a:r>
              <a:rPr lang="en-US" dirty="0" err="1"/>
              <a:t>borrower_genders</a:t>
            </a:r>
            <a:r>
              <a:rPr lang="en-US" dirty="0"/>
              <a:t>: Filled with 'unknown’</a:t>
            </a:r>
          </a:p>
          <a:p>
            <a:r>
              <a:rPr lang="en-US" dirty="0"/>
              <a:t>Removed any problematic records when needed</a:t>
            </a:r>
          </a:p>
          <a:p>
            <a:r>
              <a:rPr lang="en-US" dirty="0"/>
              <a:t>Standardized column types (e.g., converted date)</a:t>
            </a:r>
          </a:p>
        </p:txBody>
      </p:sp>
    </p:spTree>
    <p:extLst>
      <p:ext uri="{BB962C8B-B14F-4D97-AF65-F5344CB8AC3E}">
        <p14:creationId xmlns:p14="http://schemas.microsoft.com/office/powerpoint/2010/main" val="484190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08A4-4439-2411-3ED2-2A8A94E8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2CD29-9A50-6AC7-FCBE-DCC6D6903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Extracted year and month from date for time analysis</a:t>
            </a:r>
          </a:p>
          <a:p>
            <a:r>
              <a:rPr lang="en-US" dirty="0"/>
              <a:t> Split </a:t>
            </a:r>
            <a:r>
              <a:rPr lang="en-US" dirty="0" err="1"/>
              <a:t>borrower_genders</a:t>
            </a:r>
            <a:r>
              <a:rPr lang="en-US" dirty="0"/>
              <a:t> into female, male, unknown counts</a:t>
            </a:r>
          </a:p>
          <a:p>
            <a:r>
              <a:rPr lang="en-US" dirty="0"/>
              <a:t> Prepared clean data for Power BI and ML use</a:t>
            </a:r>
          </a:p>
          <a:p>
            <a:r>
              <a:rPr lang="en-US" dirty="0"/>
              <a:t> Saved cleaned data to </a:t>
            </a:r>
            <a:r>
              <a:rPr lang="en-US" b="1" dirty="0"/>
              <a:t>.csv </a:t>
            </a:r>
            <a:r>
              <a:rPr lang="en-US" dirty="0"/>
              <a:t>for visualization and modeling</a:t>
            </a:r>
          </a:p>
        </p:txBody>
      </p:sp>
    </p:spTree>
    <p:extLst>
      <p:ext uri="{BB962C8B-B14F-4D97-AF65-F5344CB8AC3E}">
        <p14:creationId xmlns:p14="http://schemas.microsoft.com/office/powerpoint/2010/main" val="248271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2E690-5BAA-22E1-E65C-FA62CEE0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EDA - Exploratory Data Analysis.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720D7-7D5C-3FC0-670B-D786770DF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36945" y="2221190"/>
            <a:ext cx="4974771" cy="264231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Exploring and visualizing data to understand its patterns, trends, relationships, and potential issues before building any models.</a:t>
            </a:r>
          </a:p>
          <a:p>
            <a:r>
              <a:rPr lang="en-US" b="1" dirty="0">
                <a:solidFill>
                  <a:schemeClr val="bg1"/>
                </a:solidFill>
              </a:rPr>
              <a:t>Tool used: </a:t>
            </a:r>
            <a:r>
              <a:rPr lang="en-US" dirty="0">
                <a:solidFill>
                  <a:schemeClr val="bg1"/>
                </a:solidFill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2391691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BB462-357F-0369-42BC-1C00DBAB7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B5233C-5F7E-B2E6-F198-6E02FFD11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EDA: Funding by Sector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FB8BB-8935-3C3A-02CB-E7981D8AD8E1}"/>
              </a:ext>
            </a:extLst>
          </p:cNvPr>
          <p:cNvSpPr txBox="1"/>
          <p:nvPr/>
        </p:nvSpPr>
        <p:spPr>
          <a:xfrm>
            <a:off x="838199" y="3018576"/>
            <a:ext cx="4266364" cy="2768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Visualization: </a:t>
            </a:r>
            <a:r>
              <a:rPr lang="en-US" sz="2000" dirty="0"/>
              <a:t>Bar chart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Insights</a:t>
            </a:r>
            <a:r>
              <a:rPr lang="en-US" sz="2000" dirty="0"/>
              <a:t>: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Dominant sectors (e.g., </a:t>
            </a:r>
            <a:r>
              <a:rPr lang="en-US" sz="2000" b="1" dirty="0"/>
              <a:t>Agriculture</a:t>
            </a:r>
            <a:r>
              <a:rPr lang="en-US" sz="2000" dirty="0"/>
              <a:t>, </a:t>
            </a:r>
            <a:r>
              <a:rPr lang="en-US" sz="2000" b="1" dirty="0"/>
              <a:t>Food</a:t>
            </a:r>
            <a:r>
              <a:rPr lang="en-US" sz="2000" dirty="0"/>
              <a:t>) have the highest funding.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Smaller sectors (e.g., </a:t>
            </a:r>
            <a:r>
              <a:rPr lang="en-US" sz="2000" b="1" dirty="0"/>
              <a:t>Entertainment</a:t>
            </a:r>
            <a:r>
              <a:rPr lang="en-US" sz="2000" dirty="0"/>
              <a:t>, </a:t>
            </a:r>
            <a:r>
              <a:rPr lang="en-US" sz="2000" b="1" dirty="0"/>
              <a:t>Health</a:t>
            </a:r>
            <a:r>
              <a:rPr lang="en-US" sz="2000" dirty="0"/>
              <a:t>) show minimal funding.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3C5C84-7250-609B-9CCC-FEC5AFA04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897" y="1623372"/>
            <a:ext cx="6595904" cy="361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7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E13DF-472B-2DB5-8DC2-F8D90B44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EDA: Top 10 sectors years comparison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4B4E44-68D6-23F4-67E2-1AFC635E2AD1}"/>
              </a:ext>
            </a:extLst>
          </p:cNvPr>
          <p:cNvSpPr txBox="1"/>
          <p:nvPr/>
        </p:nvSpPr>
        <p:spPr>
          <a:xfrm>
            <a:off x="838199" y="2686323"/>
            <a:ext cx="4783697" cy="3433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Visualization: </a:t>
            </a:r>
            <a:r>
              <a:rPr lang="en-US" sz="2000" dirty="0"/>
              <a:t>Stacked Column Chart</a:t>
            </a: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Insights</a:t>
            </a:r>
            <a:r>
              <a:rPr lang="en-US" sz="2000" dirty="0"/>
              <a:t>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Agriculture dominates yearly funding.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Trends (e.g., growth in "Food" or decline in "Arts").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7A16B-A660-13E1-4FA9-5C0DD08CB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896" y="2032604"/>
            <a:ext cx="6105721" cy="337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48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C8480-EF9B-E7E2-852A-DAEACB54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EDA: Correlation between funded amount and</a:t>
            </a:r>
            <a:b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lender count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3918C-3F0D-CFF5-FC92-EEEFC5884919}"/>
              </a:ext>
            </a:extLst>
          </p:cNvPr>
          <p:cNvSpPr txBox="1"/>
          <p:nvPr/>
        </p:nvSpPr>
        <p:spPr>
          <a:xfrm>
            <a:off x="838199" y="2686323"/>
            <a:ext cx="4783697" cy="3433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Visualization: </a:t>
            </a:r>
            <a:r>
              <a:rPr lang="en-US" sz="2000" dirty="0"/>
              <a:t>Scatter Plot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Insights</a:t>
            </a:r>
            <a:r>
              <a:rPr lang="en-US" sz="2000" dirty="0"/>
              <a:t>: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Positive correlation: More lenders   may associate with higher funding.</a:t>
            </a:r>
          </a:p>
          <a:p>
            <a:pPr marL="457200" indent="-4572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Outliers: Loans with high funding but few lenders (or vice versa) may indicate unique cases.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5EC22B-516E-A2BD-3C5F-155431139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478" y="1721221"/>
            <a:ext cx="6829738" cy="388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13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94ABD-8DBA-63A9-2E6F-767AF993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EDA: Funded amount per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4DC1A4-3CF7-F301-89BB-96E5332BE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739" y="1300986"/>
            <a:ext cx="9576521" cy="535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28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8B8DD-2552-2CE6-1693-C080078A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Machine Learning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42FED-46F2-11B9-F102-BDD141201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6270" y="4142096"/>
            <a:ext cx="5338511" cy="105514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Goal: Predict funded amount from historical data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601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AD17-7457-8D08-0716-87700EFD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&amp;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8DEF0-9C0C-7BCC-D8E1-809907D5E4CE}"/>
              </a:ext>
            </a:extLst>
          </p:cNvPr>
          <p:cNvSpPr txBox="1"/>
          <p:nvPr/>
        </p:nvSpPr>
        <p:spPr>
          <a:xfrm>
            <a:off x="838200" y="1690688"/>
            <a:ext cx="88634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Objective: Predict the </a:t>
            </a:r>
            <a:r>
              <a:rPr lang="en-US" sz="4000" b="1" dirty="0"/>
              <a:t>'</a:t>
            </a:r>
            <a:r>
              <a:rPr lang="en-US" sz="4000" b="1" dirty="0" err="1"/>
              <a:t>funded_amount</a:t>
            </a:r>
            <a:r>
              <a:rPr lang="en-US" sz="4000" b="1" dirty="0"/>
              <a:t>' </a:t>
            </a:r>
            <a:r>
              <a:rPr lang="en-US" sz="4000" dirty="0"/>
              <a:t>using other variables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Approach: Supervised machine learning using regression model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86430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24AB-9CFB-C721-C13A-56CDD26D8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41B2-D3E8-8D26-CE77-322F65A87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Chose Random Forest Regressor for its performance and robustness</a:t>
            </a:r>
          </a:p>
          <a:p>
            <a:r>
              <a:rPr lang="en-US" sz="2600" dirty="0"/>
              <a:t>Built a pipeline combining preprocessing and modeling steps</a:t>
            </a:r>
          </a:p>
          <a:p>
            <a:r>
              <a:rPr lang="en-US" sz="2600" dirty="0"/>
              <a:t>Used </a:t>
            </a:r>
            <a:r>
              <a:rPr lang="en-US" sz="2600" dirty="0" err="1"/>
              <a:t>ColumnTransformer</a:t>
            </a:r>
            <a:r>
              <a:rPr lang="en-US" sz="2600" dirty="0"/>
              <a:t> to one-hot encode categorical features (</a:t>
            </a:r>
            <a:r>
              <a:rPr lang="en-US" sz="2600" b="1" dirty="0"/>
              <a:t>sector</a:t>
            </a:r>
            <a:r>
              <a:rPr lang="en-US" sz="2600" dirty="0"/>
              <a:t>, </a:t>
            </a:r>
            <a:r>
              <a:rPr lang="en-US" sz="2600" b="1" dirty="0"/>
              <a:t>country</a:t>
            </a:r>
            <a:r>
              <a:rPr lang="en-US" sz="2600" dirty="0"/>
              <a:t>)</a:t>
            </a:r>
          </a:p>
          <a:p>
            <a:r>
              <a:rPr lang="en-US" sz="2600" dirty="0"/>
              <a:t>Included numerical and engineered features like: </a:t>
            </a:r>
            <a:r>
              <a:rPr lang="en-US" sz="2600" dirty="0" err="1"/>
              <a:t>loan_amount</a:t>
            </a:r>
            <a:r>
              <a:rPr lang="en-US" sz="2600" dirty="0"/>
              <a:t>, </a:t>
            </a:r>
            <a:r>
              <a:rPr lang="en-US" sz="2600" dirty="0" err="1"/>
              <a:t>lender_count</a:t>
            </a:r>
            <a:r>
              <a:rPr lang="en-US" sz="2600" dirty="0"/>
              <a:t>, </a:t>
            </a:r>
            <a:r>
              <a:rPr lang="en-US" sz="2600" dirty="0" err="1"/>
              <a:t>term_in_monthsfemale_count</a:t>
            </a:r>
            <a:r>
              <a:rPr lang="en-US" sz="2600" dirty="0"/>
              <a:t>, </a:t>
            </a:r>
            <a:r>
              <a:rPr lang="en-US" sz="2600" dirty="0" err="1"/>
              <a:t>male_count</a:t>
            </a:r>
            <a:r>
              <a:rPr lang="en-US" sz="2600" dirty="0"/>
              <a:t>, </a:t>
            </a:r>
            <a:r>
              <a:rPr lang="en-US" sz="2600" dirty="0" err="1"/>
              <a:t>unknown_count</a:t>
            </a:r>
            <a:endParaRPr lang="en-US" sz="2600" dirty="0"/>
          </a:p>
          <a:p>
            <a:r>
              <a:rPr lang="en-US" sz="2600" dirty="0"/>
              <a:t>Split data into training (80%) and testing (20%) sets</a:t>
            </a:r>
          </a:p>
          <a:p>
            <a:r>
              <a:rPr lang="en-US" sz="2600" dirty="0"/>
              <a:t>Trained model using </a:t>
            </a:r>
            <a:r>
              <a:rPr lang="en-US" sz="2600" dirty="0" err="1"/>
              <a:t>sklearn</a:t>
            </a:r>
            <a:r>
              <a:rPr lang="en-US" sz="2600" dirty="0"/>
              <a:t> with default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240158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A9EE6-4956-EC77-7CC3-1DFC5D19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0A3AF-A429-8605-4F97-01F69CDF1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Results: </a:t>
            </a:r>
          </a:p>
          <a:p>
            <a:r>
              <a:rPr lang="en-US" dirty="0"/>
              <a:t>Root Mean Squared Error (RMSE): ~$181.72</a:t>
            </a:r>
          </a:p>
          <a:p>
            <a:pPr marL="0" indent="0">
              <a:buNone/>
            </a:pPr>
            <a:r>
              <a:rPr lang="en-US" dirty="0"/>
              <a:t>This means predictions are generally </a:t>
            </a:r>
            <a:r>
              <a:rPr lang="en-US" b="1" dirty="0"/>
              <a:t>very close</a:t>
            </a:r>
            <a:r>
              <a:rPr lang="en-US" dirty="0"/>
              <a:t> to actual values.</a:t>
            </a:r>
          </a:p>
          <a:p>
            <a:r>
              <a:rPr lang="en-US" dirty="0"/>
              <a:t>R²: 0.97. </a:t>
            </a:r>
          </a:p>
          <a:p>
            <a:pPr marL="0" indent="0">
              <a:buNone/>
            </a:pPr>
            <a:r>
              <a:rPr lang="en-US" dirty="0"/>
              <a:t>97% of the variation in the actual funded amounts is explained by the model.</a:t>
            </a:r>
          </a:p>
          <a:p>
            <a:r>
              <a:rPr lang="en-US" dirty="0"/>
              <a:t>Model is highly accurate and generalizes well</a:t>
            </a:r>
          </a:p>
        </p:txBody>
      </p:sp>
    </p:spTree>
    <p:extLst>
      <p:ext uri="{BB962C8B-B14F-4D97-AF65-F5344CB8AC3E}">
        <p14:creationId xmlns:p14="http://schemas.microsoft.com/office/powerpoint/2010/main" val="2919828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17B77-58DF-D92E-C815-EC32B0B7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Prediction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AFA39-8B57-A7D1-7EC0-79C3E0CB3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2686323"/>
            <a:ext cx="4783697" cy="3433583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000" dirty="0"/>
              <a:t>Scatterplot of predicted vs actual funded amounts</a:t>
            </a:r>
            <a:endParaRPr lang="en-US" sz="2000"/>
          </a:p>
          <a:p>
            <a:r>
              <a:rPr lang="en-US" sz="2000" dirty="0"/>
              <a:t>The points </a:t>
            </a:r>
            <a:r>
              <a:rPr lang="en-US" sz="2000" b="1" dirty="0"/>
              <a:t>clustered</a:t>
            </a:r>
            <a:r>
              <a:rPr lang="en-US" sz="2000" dirty="0"/>
              <a:t> near a diagonal line.</a:t>
            </a:r>
          </a:p>
          <a:p>
            <a:r>
              <a:rPr lang="en-US" sz="2000" dirty="0"/>
              <a:t>The line represents </a:t>
            </a:r>
            <a:r>
              <a:rPr lang="en-US" sz="2000" b="1" dirty="0"/>
              <a:t>perfect</a:t>
            </a:r>
            <a:r>
              <a:rPr lang="en-US" sz="2000" dirty="0"/>
              <a:t> predictions.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tighter</a:t>
            </a:r>
            <a:r>
              <a:rPr lang="en-US" sz="2000" dirty="0"/>
              <a:t> the points hug that line, the </a:t>
            </a:r>
            <a:r>
              <a:rPr lang="en-US" sz="2000" b="1" dirty="0"/>
              <a:t>better</a:t>
            </a:r>
            <a:r>
              <a:rPr lang="en-US" sz="2000" dirty="0"/>
              <a:t> the model's predictions are.</a:t>
            </a:r>
          </a:p>
          <a:p>
            <a:endParaRPr lang="en-US" sz="2000" dirty="0"/>
          </a:p>
        </p:txBody>
      </p:sp>
      <p:pic>
        <p:nvPicPr>
          <p:cNvPr id="5" name="Picture 4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13103336-0D9D-F66C-8E5B-AD3FF71BC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424" y="1316878"/>
            <a:ext cx="5365375" cy="402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44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38138-7BFC-1ADF-ADB5-3CC84BDC2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 Series Forecasting (ARIMA)</a:t>
            </a:r>
          </a:p>
        </p:txBody>
      </p:sp>
      <p:graphicFrame>
        <p:nvGraphicFramePr>
          <p:cNvPr id="21" name="Text Placeholder 2">
            <a:extLst>
              <a:ext uri="{FF2B5EF4-FFF2-40B4-BE49-F238E27FC236}">
                <a16:creationId xmlns:a16="http://schemas.microsoft.com/office/drawing/2014/main" id="{18094D71-4B83-6C2E-71B2-5CA1352DA2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4678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833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08511C7-995B-B0D1-2D33-B31E3EAD9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63" y="2537209"/>
            <a:ext cx="10414274" cy="4165710"/>
          </a:xfrm>
          <a:prstGeom prst="rect">
            <a:avLst/>
          </a:prstGeom>
        </p:spPr>
      </p:pic>
      <p:pic>
        <p:nvPicPr>
          <p:cNvPr id="5" name="Picture 4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6E0265A9-B54D-7C03-F752-091471129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593" y="155081"/>
            <a:ext cx="6102813" cy="25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09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E2AF-7F8F-3967-8AB7-B01D5E5A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15C718-7874-E334-C035-1D15F1C00C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86903"/>
            <a:ext cx="10034116" cy="5628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/>
              <a:t>Funding Trends:</a:t>
            </a:r>
            <a:endParaRPr lang="en-US" sz="1800" dirty="0"/>
          </a:p>
          <a:p>
            <a:pPr lvl="0"/>
            <a:r>
              <a:rPr lang="en-US" sz="1800" dirty="0"/>
              <a:t>Sectors like </a:t>
            </a:r>
            <a:r>
              <a:rPr lang="en-US" sz="1800" b="1" dirty="0"/>
              <a:t>Agriculture</a:t>
            </a:r>
            <a:r>
              <a:rPr lang="en-US" sz="1800" dirty="0"/>
              <a:t>, </a:t>
            </a:r>
            <a:r>
              <a:rPr lang="en-US" sz="1800" b="1" dirty="0"/>
              <a:t>Food</a:t>
            </a:r>
            <a:r>
              <a:rPr lang="en-US" sz="1800" dirty="0"/>
              <a:t>, and </a:t>
            </a:r>
            <a:r>
              <a:rPr lang="en-US" sz="1800" b="1" dirty="0"/>
              <a:t>Retail</a:t>
            </a:r>
            <a:r>
              <a:rPr lang="en-US" sz="1800" dirty="0"/>
              <a:t> received the most funding.</a:t>
            </a:r>
          </a:p>
          <a:p>
            <a:pPr lvl="0"/>
            <a:r>
              <a:rPr lang="en-US" sz="1800" dirty="0"/>
              <a:t>Countries like </a:t>
            </a:r>
            <a:r>
              <a:rPr lang="en-US" sz="1800" b="1" dirty="0"/>
              <a:t>Philippines</a:t>
            </a:r>
            <a:r>
              <a:rPr lang="en-US" sz="1800" dirty="0"/>
              <a:t> and </a:t>
            </a:r>
            <a:r>
              <a:rPr lang="en-US" sz="1800" b="1" dirty="0"/>
              <a:t>Kenya</a:t>
            </a:r>
            <a:r>
              <a:rPr lang="en-US" sz="1800" dirty="0"/>
              <a:t> stood out in total loan support.</a:t>
            </a:r>
          </a:p>
          <a:p>
            <a:pPr marL="0" indent="0">
              <a:buNone/>
            </a:pPr>
            <a:r>
              <a:rPr lang="en-US" sz="1800" b="1" dirty="0"/>
              <a:t>Lender Behavior:</a:t>
            </a:r>
            <a:endParaRPr lang="en-US" sz="1800" dirty="0"/>
          </a:p>
          <a:p>
            <a:pPr lvl="0"/>
            <a:r>
              <a:rPr lang="en-US" sz="1800" dirty="0"/>
              <a:t>A higher </a:t>
            </a:r>
            <a:r>
              <a:rPr lang="en-US" sz="1800" b="1" dirty="0"/>
              <a:t>lender count</a:t>
            </a:r>
            <a:r>
              <a:rPr lang="en-US" sz="1800" dirty="0"/>
              <a:t> is generally associated with higher funded amounts.</a:t>
            </a:r>
          </a:p>
          <a:p>
            <a:pPr lvl="0"/>
            <a:r>
              <a:rPr lang="en-US" sz="1800" dirty="0"/>
              <a:t>Most loans are short-term (under 14 months).</a:t>
            </a:r>
          </a:p>
          <a:p>
            <a:pPr marL="0" indent="0">
              <a:buNone/>
            </a:pPr>
            <a:r>
              <a:rPr lang="en-US" sz="1800" b="1" dirty="0"/>
              <a:t>Machine Learning Model:</a:t>
            </a:r>
            <a:endParaRPr lang="en-US" sz="1800" dirty="0"/>
          </a:p>
          <a:p>
            <a:pPr lvl="0"/>
            <a:r>
              <a:rPr lang="en-US" sz="1800" dirty="0"/>
              <a:t>Achieved </a:t>
            </a:r>
            <a:r>
              <a:rPr lang="en-US" sz="1800" b="1" dirty="0"/>
              <a:t>97% accuracy (R²)</a:t>
            </a:r>
            <a:r>
              <a:rPr lang="en-US" sz="1800" dirty="0"/>
              <a:t> in predicting funded amounts.</a:t>
            </a:r>
          </a:p>
          <a:p>
            <a:pPr lvl="0"/>
            <a:r>
              <a:rPr lang="en-US" sz="1800" b="1" dirty="0"/>
              <a:t>Random Forest Regressor</a:t>
            </a:r>
            <a:r>
              <a:rPr lang="en-US" sz="1800" dirty="0"/>
              <a:t> performed well with low error (RMSE ≈ $181).</a:t>
            </a:r>
          </a:p>
          <a:p>
            <a:pPr marL="0" indent="0">
              <a:buNone/>
            </a:pPr>
            <a:r>
              <a:rPr lang="en-US" sz="1800" b="1" dirty="0"/>
              <a:t>Time Series Forecasting:</a:t>
            </a:r>
            <a:endParaRPr lang="en-US" sz="1800" dirty="0"/>
          </a:p>
          <a:p>
            <a:pPr lvl="0"/>
            <a:r>
              <a:rPr lang="en-US" sz="1800" dirty="0"/>
              <a:t>Initial ARIMA model struggled due to limited yearly data.</a:t>
            </a:r>
          </a:p>
          <a:p>
            <a:pPr lvl="0"/>
            <a:r>
              <a:rPr lang="en-US" sz="1800" dirty="0"/>
              <a:t>Monthly resampling recommended for better forecasting results.</a:t>
            </a:r>
          </a:p>
          <a:p>
            <a:pPr marL="0" indent="0">
              <a:buNone/>
            </a:pPr>
            <a:r>
              <a:rPr lang="en-US" sz="1800" b="1" dirty="0"/>
              <a:t>Business Impact:</a:t>
            </a:r>
            <a:endParaRPr lang="en-US" sz="1800" dirty="0"/>
          </a:p>
          <a:p>
            <a:pPr lvl="0"/>
            <a:r>
              <a:rPr lang="en-US" sz="1800" dirty="0"/>
              <a:t>BI tools and predictive models can </a:t>
            </a:r>
            <a:r>
              <a:rPr lang="en-US" sz="1800" b="1" dirty="0"/>
              <a:t>support smarter funding strategies</a:t>
            </a:r>
            <a:r>
              <a:rPr lang="en-US" sz="1800" dirty="0"/>
              <a:t> for Kiva.</a:t>
            </a:r>
          </a:p>
          <a:p>
            <a:pPr lvl="0"/>
            <a:r>
              <a:rPr lang="en-US" sz="1800" dirty="0"/>
              <a:t>Helps identify which sectors or countries need more visibility and resources.</a:t>
            </a:r>
          </a:p>
        </p:txBody>
      </p:sp>
    </p:spTree>
    <p:extLst>
      <p:ext uri="{BB962C8B-B14F-4D97-AF65-F5344CB8AC3E}">
        <p14:creationId xmlns:p14="http://schemas.microsoft.com/office/powerpoint/2010/main" val="2742612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2603</TotalTime>
  <Words>890</Words>
  <Application>Microsoft Office PowerPoint</Application>
  <PresentationFormat>Widescreen</PresentationFormat>
  <Paragraphs>127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KIVA Loans Business Intelligence</vt:lpstr>
      <vt:lpstr>Agenda</vt:lpstr>
      <vt:lpstr>Project Overview</vt:lpstr>
      <vt:lpstr>Objectives</vt:lpstr>
      <vt:lpstr>Dataset Description</vt:lpstr>
      <vt:lpstr>Data Loading &amp; Initial Exploration</vt:lpstr>
      <vt:lpstr>Missing Values and Data Cleaning</vt:lpstr>
      <vt:lpstr>Data Transformation</vt:lpstr>
      <vt:lpstr>EDA - Exploratory Data Analysis.</vt:lpstr>
      <vt:lpstr>EDA: Funding by Sector</vt:lpstr>
      <vt:lpstr>EDA: Top 10 sectors years comparison</vt:lpstr>
      <vt:lpstr>EDA: Correlation between funded amount and lender count</vt:lpstr>
      <vt:lpstr>EDA: Funded amount per country</vt:lpstr>
      <vt:lpstr>Machine Learning Objective</vt:lpstr>
      <vt:lpstr>Feature Selection &amp; Preprocessing</vt:lpstr>
      <vt:lpstr>Model Building</vt:lpstr>
      <vt:lpstr>Model Evaluation</vt:lpstr>
      <vt:lpstr>Prediction Results</vt:lpstr>
      <vt:lpstr>Time Series Forecasting (ARIMA)</vt:lpstr>
      <vt:lpstr>PowerPoint Presentation</vt:lpstr>
      <vt:lpstr>Conclusion &amp;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arqam mahmoud</dc:creator>
  <cp:lastModifiedBy>arqam mahmoud</cp:lastModifiedBy>
  <cp:revision>15</cp:revision>
  <dcterms:created xsi:type="dcterms:W3CDTF">2025-05-11T21:22:49Z</dcterms:created>
  <dcterms:modified xsi:type="dcterms:W3CDTF">2025-05-18T11:44:17Z</dcterms:modified>
</cp:coreProperties>
</file>